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ags/tag2.xml" ContentType="application/vnd.openxmlformats-officedocument.presentationml.tags+xml"/>
  <Override PartName="/ppt/theme/themeOverride2.xml" ContentType="application/vnd.openxmlformats-officedocument.themeOverride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5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60" r:id="rId13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032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6431F-32C1-6921-E460-4A5703244C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t">
            <a:normAutofit/>
          </a:bodyPr>
          <a:lstStyle>
            <a:lvl1pPr algn="ctr">
              <a:defRPr sz="6000"/>
            </a:lvl1pPr>
          </a:lstStyle>
          <a:p>
            <a:r>
              <a:rPr lang="fr-FR" altLang="fr-FR" sz="5600">
                <a:latin typeface="Lato"/>
                <a:ea typeface="Lato"/>
              </a:rPr>
              <a:t>Cliquez ici pour modifier le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96943BD-7193-5187-AFFF-2E9F46E676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altLang="fr-FR">
                <a:latin typeface="Lato"/>
                <a:ea typeface="Lato"/>
              </a:rPr>
              <a:t>Cliquez ici pour modifier le style de sous-titre principal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94E212-2D20-AD30-078D-E223BFC5A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AC576A6A-BC54-4FA1-BD4E-281C6FC409D8}" type="datetimeFigureOut">
              <a:rPr lang="fr-FR" altLang="fr-FR" sz="1000" smtClean="0">
                <a:latin typeface="Lato"/>
                <a:ea typeface="Lato"/>
              </a:rPr>
              <a:t>09/10/2025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B81245-D0E3-3BE1-CCC3-371C05A19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084CA0-64D2-BD0F-2D7A-488B2A62D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D216F4D-D230-45A3-ADA9-84599A2E63D6}" type="slidenum">
              <a:rPr lang="fr-FR" altLang="fr-FR" smtClean="0">
                <a:latin typeface="Lato"/>
                <a:ea typeface="Lato"/>
              </a:rPr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6527184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C2F0-9B43-9E11-58D3-9436000F5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altLang="fr-FR">
                <a:latin typeface="Lato"/>
                <a:ea typeface="Lato"/>
              </a:rPr>
              <a:t>Cliquez ici pour modifier le style du titre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729F6D-2048-C4A5-2701-8A8807B60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fr-FR" altLang="fr-FR">
                <a:latin typeface="Lato"/>
                <a:ea typeface="Lato"/>
              </a:rPr>
              <a:t>Cliquez ici pour modifier le style du texte principal</a:t>
            </a:r>
          </a:p>
          <a:p>
            <a:pPr lvl="1"/>
            <a:r>
              <a:rPr lang="fr-FR" altLang="fr-FR">
                <a:latin typeface="Lato"/>
                <a:ea typeface="Lato"/>
              </a:rPr>
              <a:t>Niveau 2</a:t>
            </a:r>
          </a:p>
          <a:p>
            <a:pPr lvl="2"/>
            <a:r>
              <a:rPr lang="fr-FR" altLang="fr-FR">
                <a:latin typeface="Lato"/>
                <a:ea typeface="Lato"/>
              </a:rPr>
              <a:t>Niveau trois</a:t>
            </a:r>
          </a:p>
          <a:p>
            <a:pPr lvl="3"/>
            <a:r>
              <a:rPr lang="fr-FR" altLang="fr-FR">
                <a:latin typeface="Lato"/>
                <a:ea typeface="Lato"/>
              </a:rPr>
              <a:t>Niveau 4</a:t>
            </a:r>
          </a:p>
          <a:p>
            <a:pPr lvl="4"/>
            <a:r>
              <a:rPr lang="fr-FR" altLang="fr-FR">
                <a:latin typeface="Lato"/>
                <a:ea typeface="Lato"/>
              </a:rPr>
              <a:t>Niveau 5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8E6820-DE01-349F-26A1-31A8EF75B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AC576A6A-BC54-4FA1-BD4E-281C6FC409D8}" type="datetimeFigureOut">
              <a:rPr lang="fr-FR" altLang="fr-FR" sz="1000" smtClean="0">
                <a:latin typeface="Lato"/>
                <a:ea typeface="Lato"/>
              </a:rPr>
              <a:t>09/10/2025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BBE096-5805-2BB3-81D9-2171BA846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9FA72C-EA0B-CB46-1788-A282AF03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D216F4D-D230-45A3-ADA9-84599A2E63D6}" type="slidenum">
              <a:rPr lang="fr-FR" altLang="fr-FR" smtClean="0">
                <a:latin typeface="Lato"/>
                <a:ea typeface="Lato"/>
              </a:rPr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741102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D782BF-012E-9486-1DA5-A8E0FC2C6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fr-FR" altLang="fr-FR">
                <a:latin typeface="Lato"/>
                <a:ea typeface="Lato"/>
              </a:rPr>
              <a:t>Cliquez ici pour modifier le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278B38-BA48-7CFB-3D6D-92A474B48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altLang="fr-FR">
                <a:latin typeface="Lato"/>
                <a:ea typeface="Lato"/>
              </a:rPr>
              <a:t>Cliquez ici pour modifier le style du texte principal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543ECC-C21B-E2EE-3340-E207DF4FE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AC576A6A-BC54-4FA1-BD4E-281C6FC409D8}" type="datetimeFigureOut">
              <a:rPr lang="fr-FR" altLang="fr-FR" sz="1000" smtClean="0">
                <a:latin typeface="Lato"/>
                <a:ea typeface="Lato"/>
              </a:rPr>
              <a:t>09/10/2025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424406-9645-37E5-26E2-070A43BCB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B2D58C-2301-4C5D-60D5-69E8DAB40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D216F4D-D230-45A3-ADA9-84599A2E63D6}" type="slidenum">
              <a:rPr lang="fr-FR" altLang="fr-FR" smtClean="0">
                <a:latin typeface="Lato"/>
                <a:ea typeface="Lato"/>
              </a:rPr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921076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75ADFA-E283-948B-8C66-90432A124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altLang="fr-FR">
                <a:latin typeface="Lato"/>
                <a:ea typeface="Lato"/>
              </a:rPr>
              <a:t>Cliquez ici pour modifier le style du titre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664F33-C3AF-DEA9-23BF-2D7B77E2A4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pPr lvl="0"/>
            <a:r>
              <a:rPr lang="fr-FR" altLang="fr-FR">
                <a:latin typeface="Lato"/>
                <a:ea typeface="Lato"/>
              </a:rPr>
              <a:t>Cliquez ici pour modifier</a:t>
            </a:r>
          </a:p>
          <a:p>
            <a:pPr lvl="1"/>
            <a:r>
              <a:rPr lang="fr-FR" altLang="fr-FR">
                <a:latin typeface="Lato"/>
                <a:ea typeface="Lato"/>
              </a:rPr>
              <a:t>Niveau 2</a:t>
            </a:r>
          </a:p>
          <a:p>
            <a:pPr lvl="2"/>
            <a:r>
              <a:rPr lang="fr-FR" altLang="fr-FR">
                <a:latin typeface="Lato"/>
                <a:ea typeface="Lato"/>
              </a:rPr>
              <a:t>Niveau trois</a:t>
            </a:r>
          </a:p>
          <a:p>
            <a:pPr lvl="3"/>
            <a:r>
              <a:rPr lang="fr-FR" altLang="fr-FR">
                <a:latin typeface="Lato"/>
                <a:ea typeface="Lato"/>
              </a:rPr>
              <a:t>Niveau 4</a:t>
            </a:r>
          </a:p>
          <a:p>
            <a:pPr lvl="4"/>
            <a:r>
              <a:rPr lang="fr-FR" altLang="fr-FR">
                <a:latin typeface="Lato"/>
                <a:ea typeface="Lato"/>
              </a:rPr>
              <a:t>Niveau 5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E22E477-71C2-AC1D-A946-1C80B577BC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pPr lvl="0"/>
            <a:r>
              <a:rPr lang="fr-FR" altLang="fr-FR">
                <a:latin typeface="Lato"/>
                <a:ea typeface="Lato"/>
              </a:rPr>
              <a:t>Cliquez ici pour modifier</a:t>
            </a:r>
          </a:p>
          <a:p>
            <a:pPr lvl="1"/>
            <a:r>
              <a:rPr lang="fr-FR" altLang="fr-FR">
                <a:latin typeface="Lato"/>
                <a:ea typeface="Lato"/>
              </a:rPr>
              <a:t>Niveau 2</a:t>
            </a:r>
          </a:p>
          <a:p>
            <a:pPr lvl="2"/>
            <a:r>
              <a:rPr lang="fr-FR" altLang="fr-FR">
                <a:latin typeface="Lato"/>
                <a:ea typeface="Lato"/>
              </a:rPr>
              <a:t>Niveau trois</a:t>
            </a:r>
          </a:p>
          <a:p>
            <a:pPr lvl="3"/>
            <a:r>
              <a:rPr lang="fr-FR" altLang="fr-FR">
                <a:latin typeface="Lato"/>
                <a:ea typeface="Lato"/>
              </a:rPr>
              <a:t>Niveau 4</a:t>
            </a:r>
          </a:p>
          <a:p>
            <a:pPr lvl="4"/>
            <a:r>
              <a:rPr lang="fr-FR" altLang="fr-FR">
                <a:latin typeface="Lato"/>
                <a:ea typeface="Lato"/>
              </a:rPr>
              <a:t>Niveau 5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B37801-061F-AC36-520B-8C0EF4F2F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AC576A6A-BC54-4FA1-BD4E-281C6FC409D8}" type="datetimeFigureOut">
              <a:rPr lang="fr-FR" altLang="fr-FR" sz="1000" smtClean="0">
                <a:latin typeface="Lato"/>
                <a:ea typeface="Lato"/>
              </a:rPr>
              <a:t>09/10/2025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915BF81-C397-7E2B-B11A-1ED5941BE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0D86570-C7A3-926E-6454-3801964BC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D216F4D-D230-45A3-ADA9-84599A2E63D6}" type="slidenum">
              <a:rPr lang="fr-FR" altLang="fr-FR" smtClean="0">
                <a:latin typeface="Lato"/>
                <a:ea typeface="Lato"/>
              </a:rPr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885629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1971D0-5650-858E-0179-B0FDCB146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/>
          <a:p>
            <a:r>
              <a:rPr lang="fr-FR" altLang="fr-FR">
                <a:latin typeface="Lato"/>
                <a:ea typeface="Lato"/>
              </a:rPr>
              <a:t>Cliquez ici pour modifier le style du titre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5FE97A-6315-1867-808F-006B63E2C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t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altLang="fr-FR" sz="2300">
                <a:latin typeface="Lato"/>
                <a:ea typeface="Lato"/>
              </a:rPr>
              <a:t>Cliquez ici pour modifier le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4F48F83-B9C6-027B-ADBE-A5CD1F0F5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/>
          <a:p>
            <a:pPr lvl="0"/>
            <a:r>
              <a:rPr lang="fr-FR" altLang="fr-FR">
                <a:latin typeface="Lato"/>
                <a:ea typeface="Lato"/>
              </a:rPr>
              <a:t>Cliquez ici pour modifier</a:t>
            </a:r>
          </a:p>
          <a:p>
            <a:pPr lvl="1"/>
            <a:r>
              <a:rPr lang="fr-FR" altLang="fr-FR">
                <a:latin typeface="Lato"/>
                <a:ea typeface="Lato"/>
              </a:rPr>
              <a:t>Niveau 2</a:t>
            </a:r>
          </a:p>
          <a:p>
            <a:pPr lvl="2"/>
            <a:r>
              <a:rPr lang="fr-FR" altLang="fr-FR">
                <a:latin typeface="Lato"/>
                <a:ea typeface="Lato"/>
              </a:rPr>
              <a:t>Niveau trois</a:t>
            </a:r>
          </a:p>
          <a:p>
            <a:pPr lvl="3"/>
            <a:r>
              <a:rPr lang="fr-FR" altLang="fr-FR">
                <a:latin typeface="Lato"/>
                <a:ea typeface="Lato"/>
              </a:rPr>
              <a:t>Niveau 4</a:t>
            </a:r>
          </a:p>
          <a:p>
            <a:pPr lvl="4"/>
            <a:r>
              <a:rPr lang="fr-FR" altLang="fr-FR">
                <a:latin typeface="Lato"/>
                <a:ea typeface="Lato"/>
              </a:rPr>
              <a:t>Niveau 5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451CE30-5165-497B-BF41-1FFFC362F3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t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altLang="fr-FR" sz="2300">
                <a:latin typeface="Lato"/>
                <a:ea typeface="Lato"/>
              </a:rPr>
              <a:t>Cliquez ici pour modifier le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05B96F4-08E3-862A-E117-A6E0DAFD14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/>
          <a:p>
            <a:pPr lvl="0"/>
            <a:r>
              <a:rPr lang="fr-FR" altLang="fr-FR">
                <a:latin typeface="Lato"/>
                <a:ea typeface="Lato"/>
              </a:rPr>
              <a:t>Cliquez ici pour modifier</a:t>
            </a:r>
          </a:p>
          <a:p>
            <a:pPr lvl="1"/>
            <a:r>
              <a:rPr lang="fr-FR" altLang="fr-FR">
                <a:latin typeface="Lato"/>
                <a:ea typeface="Lato"/>
              </a:rPr>
              <a:t>Niveau 2</a:t>
            </a:r>
          </a:p>
          <a:p>
            <a:pPr lvl="2"/>
            <a:r>
              <a:rPr lang="fr-FR" altLang="fr-FR">
                <a:latin typeface="Lato"/>
                <a:ea typeface="Lato"/>
              </a:rPr>
              <a:t>Niveau trois</a:t>
            </a:r>
          </a:p>
          <a:p>
            <a:pPr lvl="3"/>
            <a:r>
              <a:rPr lang="fr-FR" altLang="fr-FR">
                <a:latin typeface="Lato"/>
                <a:ea typeface="Lato"/>
              </a:rPr>
              <a:t>Niveau 4</a:t>
            </a:r>
          </a:p>
          <a:p>
            <a:pPr lvl="4"/>
            <a:r>
              <a:rPr lang="fr-FR" altLang="fr-FR">
                <a:latin typeface="Lato"/>
                <a:ea typeface="Lato"/>
              </a:rPr>
              <a:t>Niveau 5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C1FBCF7-3AFE-DE8C-9D30-73D104970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AC576A6A-BC54-4FA1-BD4E-281C6FC409D8}" type="datetimeFigureOut">
              <a:rPr lang="fr-FR" altLang="fr-FR" sz="1000" smtClean="0">
                <a:latin typeface="Lato"/>
                <a:ea typeface="Lato"/>
              </a:rPr>
              <a:t>09/10/2025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26DF8FA-9A02-7541-9808-322C9AD4A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1FB9114-BBB4-31C1-0EF8-E23D3D1BC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D216F4D-D230-45A3-ADA9-84599A2E63D6}" type="slidenum">
              <a:rPr lang="fr-FR" altLang="fr-FR" smtClean="0">
                <a:latin typeface="Lato"/>
                <a:ea typeface="Lato"/>
              </a:rPr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329034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6A8802-AD53-01D4-EA0A-C0F98A8A9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altLang="fr-FR">
                <a:latin typeface="Lato"/>
                <a:ea typeface="Lato"/>
              </a:rPr>
              <a:t>Cliquez ici pour modifier le style du titre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98387FF-BB29-0B65-3071-BACF56C96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AC576A6A-BC54-4FA1-BD4E-281C6FC409D8}" type="datetimeFigureOut">
              <a:rPr lang="fr-FR" altLang="fr-FR" sz="1000" smtClean="0">
                <a:latin typeface="Lato"/>
                <a:ea typeface="Lato"/>
              </a:rPr>
              <a:t>09/10/2025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1463445-BF1D-1DB1-EEE9-7409C5412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97181F9-64B2-352F-68BC-B712F524F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D216F4D-D230-45A3-ADA9-84599A2E63D6}" type="slidenum">
              <a:rPr lang="fr-FR" altLang="fr-FR" smtClean="0">
                <a:latin typeface="Lato"/>
                <a:ea typeface="Lato"/>
              </a:rPr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8256256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CD061D1-92B3-53FB-44F5-3F9660B0B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AC576A6A-BC54-4FA1-BD4E-281C6FC409D8}" type="datetimeFigureOut">
              <a:rPr lang="fr-FR" altLang="fr-FR" sz="1000" smtClean="0">
                <a:latin typeface="Lato"/>
                <a:ea typeface="Lato"/>
              </a:rPr>
              <a:t>09/10/2025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2A27931-2F36-E28C-127F-207EACDEE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3F708B-0C0C-0402-3707-976F77443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D216F4D-D230-45A3-ADA9-84599A2E63D6}" type="slidenum">
              <a:rPr lang="fr-FR" altLang="fr-FR" smtClean="0">
                <a:latin typeface="Lato"/>
                <a:ea typeface="Lato"/>
              </a:rPr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076258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028262-2106-ACAD-E643-CBBA85D4F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fr-FR" altLang="fr-FR" sz="2700">
                <a:latin typeface="Lato"/>
                <a:ea typeface="Lato"/>
              </a:rPr>
              <a:t>Cliquez ici pour modifier le style du titre principal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D3F493-66ED-FFE0-ECF0-515914FB6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altLang="fr-FR">
                <a:latin typeface="Lato"/>
                <a:ea typeface="Lato"/>
              </a:rPr>
              <a:t>Cliquez ici pour modifier</a:t>
            </a:r>
          </a:p>
          <a:p>
            <a:pPr lvl="1"/>
            <a:r>
              <a:rPr lang="fr-FR" altLang="fr-FR">
                <a:latin typeface="Lato"/>
                <a:ea typeface="Lato"/>
              </a:rPr>
              <a:t>Niveau 2</a:t>
            </a:r>
          </a:p>
          <a:p>
            <a:pPr lvl="2"/>
            <a:r>
              <a:rPr lang="fr-FR" altLang="fr-FR">
                <a:latin typeface="Lato"/>
                <a:ea typeface="Lato"/>
              </a:rPr>
              <a:t>Niveau trois</a:t>
            </a:r>
          </a:p>
          <a:p>
            <a:pPr lvl="3"/>
            <a:r>
              <a:rPr lang="fr-FR" altLang="fr-FR">
                <a:latin typeface="Lato"/>
                <a:ea typeface="Lato"/>
              </a:rPr>
              <a:t>Niveau 4</a:t>
            </a:r>
          </a:p>
          <a:p>
            <a:pPr lvl="4"/>
            <a:r>
              <a:rPr lang="fr-FR" altLang="fr-FR">
                <a:latin typeface="Lato"/>
                <a:ea typeface="Lato"/>
              </a:rPr>
              <a:t>Niveau 5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1B3878C-6730-94A1-9BC0-DE0E725EF2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altLang="fr-FR">
                <a:latin typeface="Lato"/>
                <a:ea typeface="Lato"/>
              </a:rPr>
              <a:t>Cliquez ici pour modifier le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634E127-C1A2-65DB-4DDF-24282946E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AC576A6A-BC54-4FA1-BD4E-281C6FC409D8}" type="datetimeFigureOut">
              <a:rPr lang="fr-FR" altLang="fr-FR" sz="1000" smtClean="0">
                <a:latin typeface="Lato"/>
                <a:ea typeface="Lato"/>
              </a:rPr>
              <a:t>09/10/2025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17B8997-339F-A7BB-35D6-5418D12D6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497CDF-77FE-7D6E-D93C-EA51587C7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D216F4D-D230-45A3-ADA9-84599A2E63D6}" type="slidenum">
              <a:rPr lang="fr-FR" altLang="fr-FR" smtClean="0">
                <a:latin typeface="Lato"/>
                <a:ea typeface="Lato"/>
              </a:rPr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186457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D5C9BE-6C45-6D8A-E819-16CA571A7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fr-FR" altLang="fr-FR" sz="2700">
                <a:latin typeface="Lato"/>
                <a:ea typeface="Lato"/>
              </a:rPr>
              <a:t>Cliquez ici pour modifier le style du titre principal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E929F54-FDF5-AC0C-61D0-038B63C2F3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51CEBF4-7471-1C3F-8A95-E2C10CAB6C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altLang="fr-FR">
                <a:latin typeface="Lato"/>
                <a:ea typeface="Lato"/>
              </a:rPr>
              <a:t>Cliquez ici pour modifier le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FCE90F-C331-B622-9B1A-A4A77E1D7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AC576A6A-BC54-4FA1-BD4E-281C6FC409D8}" type="datetimeFigureOut">
              <a:rPr lang="fr-FR" altLang="fr-FR" sz="1000" smtClean="0">
                <a:latin typeface="Lato"/>
                <a:ea typeface="Lato"/>
              </a:rPr>
              <a:t>09/10/2025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B6ED3A9-9696-83F4-AEA5-A5E756BD7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694540B-2815-81AE-ECCF-41F621DCE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D216F4D-D230-45A3-ADA9-84599A2E63D6}" type="slidenum">
              <a:rPr lang="fr-FR" altLang="fr-FR" smtClean="0">
                <a:latin typeface="Lato"/>
                <a:ea typeface="Lato"/>
              </a:rPr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84482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D2759B-262F-0F62-EFEA-E6F99D0E7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altLang="fr-FR">
                <a:latin typeface="Lato"/>
                <a:ea typeface="Lato"/>
              </a:rPr>
              <a:t>Cliquez ici pour modifier le style du titre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DA653A9-9A50-A6C6-60D8-237DAF96C4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vert">
            <a:normAutofit/>
          </a:bodyPr>
          <a:lstStyle/>
          <a:p>
            <a:pPr lvl="0"/>
            <a:r>
              <a:rPr lang="fr-FR" altLang="fr-FR">
                <a:latin typeface="Lato"/>
                <a:ea typeface="Lato"/>
              </a:rPr>
              <a:t>Cliquez ici pour modifier le style du texte principal</a:t>
            </a:r>
          </a:p>
          <a:p>
            <a:pPr lvl="1"/>
            <a:r>
              <a:rPr lang="fr-FR" altLang="fr-FR">
                <a:latin typeface="Lato"/>
                <a:ea typeface="Lato"/>
              </a:rPr>
              <a:t>Niveau 2</a:t>
            </a:r>
          </a:p>
          <a:p>
            <a:pPr lvl="2"/>
            <a:r>
              <a:rPr lang="fr-FR" altLang="fr-FR">
                <a:latin typeface="Lato"/>
                <a:ea typeface="Lato"/>
              </a:rPr>
              <a:t>Niveau trois</a:t>
            </a:r>
          </a:p>
          <a:p>
            <a:pPr lvl="3"/>
            <a:r>
              <a:rPr lang="fr-FR" altLang="fr-FR">
                <a:latin typeface="Lato"/>
                <a:ea typeface="Lato"/>
              </a:rPr>
              <a:t>Niveau 4</a:t>
            </a:r>
          </a:p>
          <a:p>
            <a:pPr lvl="4"/>
            <a:r>
              <a:rPr lang="fr-FR" altLang="fr-FR">
                <a:latin typeface="Lato"/>
                <a:ea typeface="Lato"/>
              </a:rPr>
              <a:t>Niveau 5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7A89C8-1A03-351D-C083-40D13A5E3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AC576A6A-BC54-4FA1-BD4E-281C6FC409D8}" type="datetimeFigureOut">
              <a:rPr lang="fr-FR" altLang="fr-FR" sz="1000" smtClean="0">
                <a:latin typeface="Lato"/>
                <a:ea typeface="Lato"/>
              </a:rPr>
              <a:t>09/10/2025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20E69E-013D-5D31-C94C-38F7EAC79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779CFB-1095-2394-64A6-87361990B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D216F4D-D230-45A3-ADA9-84599A2E63D6}" type="slidenum">
              <a:rPr lang="fr-FR" altLang="fr-FR" smtClean="0">
                <a:latin typeface="Lato"/>
                <a:ea typeface="Lato"/>
              </a:rPr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6934357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0A92257-0AD4-9E56-32F4-A1A79ED52D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vert">
            <a:normAutofit/>
          </a:bodyPr>
          <a:lstStyle/>
          <a:p>
            <a:r>
              <a:rPr lang="fr-FR" altLang="fr-FR" sz="4100">
                <a:latin typeface="Lato"/>
                <a:ea typeface="Lato"/>
              </a:rPr>
              <a:t>Cliquez ici pour modifier le style du titre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EEBC7D2-856F-1A0C-063D-B54FE20A75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vert">
            <a:normAutofit/>
          </a:bodyPr>
          <a:lstStyle/>
          <a:p>
            <a:pPr lvl="0"/>
            <a:r>
              <a:rPr lang="fr-FR" altLang="fr-FR">
                <a:latin typeface="Lato"/>
                <a:ea typeface="Lato"/>
              </a:rPr>
              <a:t>Cliquez ici pour modifier</a:t>
            </a:r>
          </a:p>
          <a:p>
            <a:pPr lvl="1"/>
            <a:r>
              <a:rPr lang="fr-FR" altLang="fr-FR">
                <a:latin typeface="Lato"/>
                <a:ea typeface="Lato"/>
              </a:rPr>
              <a:t>Niveau 2</a:t>
            </a:r>
          </a:p>
          <a:p>
            <a:pPr lvl="2"/>
            <a:r>
              <a:rPr lang="fr-FR" altLang="fr-FR">
                <a:latin typeface="Lato"/>
                <a:ea typeface="Lato"/>
              </a:rPr>
              <a:t>Niveau trois</a:t>
            </a:r>
          </a:p>
          <a:p>
            <a:pPr lvl="3"/>
            <a:r>
              <a:rPr lang="fr-FR" altLang="fr-FR">
                <a:latin typeface="Lato"/>
                <a:ea typeface="Lato"/>
              </a:rPr>
              <a:t>Niveau 4</a:t>
            </a:r>
          </a:p>
          <a:p>
            <a:pPr lvl="4"/>
            <a:r>
              <a:rPr lang="fr-FR" altLang="fr-FR">
                <a:latin typeface="Lato"/>
                <a:ea typeface="Lato"/>
              </a:rPr>
              <a:t>Niveau 5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642172-D562-3F9F-8800-4309102CC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AC576A6A-BC54-4FA1-BD4E-281C6FC409D8}" type="datetimeFigureOut">
              <a:rPr lang="fr-FR" altLang="fr-FR" sz="1000" smtClean="0">
                <a:latin typeface="Lato"/>
                <a:ea typeface="Lato"/>
              </a:rPr>
              <a:t>09/10/2025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D195E2-44BF-E6E8-F385-6C6879AE9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43BBF9-C212-3540-138E-5615AC662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D216F4D-D230-45A3-ADA9-84599A2E63D6}" type="slidenum">
              <a:rPr lang="fr-FR" altLang="fr-FR" smtClean="0">
                <a:latin typeface="Lato"/>
                <a:ea typeface="Lato"/>
              </a:rPr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7647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A4A1E79-16D9-C10B-E276-F593C55CD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altLang="fr-FR">
                <a:latin typeface="Lato"/>
                <a:ea typeface="Lato"/>
              </a:rPr>
              <a:t>Cliquez ici pour modifier le style du titre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7C1CCF-C772-11FA-645C-AFEECADB0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altLang="fr-FR">
                <a:latin typeface="Lato"/>
                <a:ea typeface="Lato"/>
              </a:rPr>
              <a:t>Cliquez ici pour modifier le style du texte principal</a:t>
            </a:r>
          </a:p>
          <a:p>
            <a:pPr lvl="1"/>
            <a:r>
              <a:rPr lang="fr-FR" altLang="fr-FR">
                <a:latin typeface="Lato"/>
                <a:ea typeface="Lato"/>
              </a:rPr>
              <a:t>Niveau 2</a:t>
            </a:r>
          </a:p>
          <a:p>
            <a:pPr lvl="2"/>
            <a:r>
              <a:rPr lang="fr-FR" altLang="fr-FR">
                <a:latin typeface="Lato"/>
                <a:ea typeface="Lato"/>
              </a:rPr>
              <a:t>Niveau trois</a:t>
            </a:r>
          </a:p>
          <a:p>
            <a:pPr lvl="3"/>
            <a:r>
              <a:rPr lang="fr-FR" altLang="fr-FR">
                <a:latin typeface="Lato"/>
                <a:ea typeface="Lato"/>
              </a:rPr>
              <a:t>Niveau 4</a:t>
            </a:r>
          </a:p>
          <a:p>
            <a:pPr lvl="4"/>
            <a:r>
              <a:rPr lang="fr-FR" altLang="fr-FR">
                <a:latin typeface="Lato"/>
                <a:ea typeface="Lato"/>
              </a:rPr>
              <a:t>Niveau 5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D2B105-5628-9D44-AD37-675108BCF4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576A6A-BC54-4FA1-BD4E-281C6FC409D8}" type="datetimeFigureOut">
              <a:rPr lang="fr-FR" altLang="fr-FR" sz="1000" smtClean="0">
                <a:latin typeface="Lato"/>
                <a:ea typeface="Lato"/>
              </a:rPr>
              <a:t>09/10/2025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520CAE-65AF-861E-75AD-C0E8DC8C32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6C78B0-CDFD-1B80-2A4C-00E5DF4B60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16F4D-D230-45A3-ADA9-84599A2E63D6}" type="slidenum">
              <a:rPr lang="fr-FR" altLang="fr-FR" smtClean="0">
                <a:latin typeface="Lato"/>
                <a:ea typeface="Lato"/>
              </a:rPr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068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media" Target="../media/media1.mp3"/><Relationship Id="rId2" Type="http://schemas.openxmlformats.org/officeDocument/2006/relationships/tags" Target="../tags/tag2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1.mp3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直角三角形 4">
            <a:extLst>
              <a:ext uri="{FF2B5EF4-FFF2-40B4-BE49-F238E27FC236}">
                <a16:creationId xmlns:a16="http://schemas.microsoft.com/office/drawing/2014/main" id="{03DC9A09-BE48-2551-DAE1-9ECA28254254}"/>
              </a:ext>
            </a:extLst>
          </p:cNvPr>
          <p:cNvSpPr/>
          <p:nvPr/>
        </p:nvSpPr>
        <p:spPr>
          <a:xfrm rot="5400000">
            <a:off x="-1670424" y="1670426"/>
            <a:ext cx="5696870" cy="2356022"/>
          </a:xfrm>
          <a:prstGeom prst="rt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Medium" panose="020B0600000000000000" pitchFamily="34" charset="-122"/>
              <a:ea typeface="思源黑体 CN Normal" panose="020B04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3" name="直角三角形 2">
            <a:extLst>
              <a:ext uri="{FF2B5EF4-FFF2-40B4-BE49-F238E27FC236}">
                <a16:creationId xmlns:a16="http://schemas.microsoft.com/office/drawing/2014/main" id="{5C45FFC5-52E2-458C-D869-B7FE44EDD75E}"/>
              </a:ext>
            </a:extLst>
          </p:cNvPr>
          <p:cNvSpPr/>
          <p:nvPr/>
        </p:nvSpPr>
        <p:spPr>
          <a:xfrm rot="16200000" flipH="1">
            <a:off x="8935995" y="1563132"/>
            <a:ext cx="4819137" cy="1692876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Medium" panose="020B0600000000000000" pitchFamily="34" charset="-122"/>
              <a:ea typeface="思源黑体 CN Normal" panose="020B04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" name="直角三角形 1">
            <a:extLst>
              <a:ext uri="{FF2B5EF4-FFF2-40B4-BE49-F238E27FC236}">
                <a16:creationId xmlns:a16="http://schemas.microsoft.com/office/drawing/2014/main" id="{BAEAB199-9CAC-AF3C-8A5F-1B137A6CA290}"/>
              </a:ext>
            </a:extLst>
          </p:cNvPr>
          <p:cNvSpPr/>
          <p:nvPr/>
        </p:nvSpPr>
        <p:spPr>
          <a:xfrm flipH="1">
            <a:off x="5778844" y="4473146"/>
            <a:ext cx="6413157" cy="2384854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Medium" panose="020B0600000000000000" pitchFamily="34" charset="-122"/>
              <a:ea typeface="思源黑体 CN Normal" panose="020B04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4" name="直角三角形 3">
            <a:extLst>
              <a:ext uri="{FF2B5EF4-FFF2-40B4-BE49-F238E27FC236}">
                <a16:creationId xmlns:a16="http://schemas.microsoft.com/office/drawing/2014/main" id="{D3015D64-C621-C448-5AF7-BCCA50B02942}"/>
              </a:ext>
            </a:extLst>
          </p:cNvPr>
          <p:cNvSpPr/>
          <p:nvPr/>
        </p:nvSpPr>
        <p:spPr>
          <a:xfrm rot="5400000">
            <a:off x="-1460158" y="1460161"/>
            <a:ext cx="4979775" cy="2059457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Medium" panose="020B0600000000000000" pitchFamily="34" charset="-122"/>
              <a:ea typeface="思源黑体 CN Normal" panose="020B04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直角三角形 6">
            <a:extLst>
              <a:ext uri="{FF2B5EF4-FFF2-40B4-BE49-F238E27FC236}">
                <a16:creationId xmlns:a16="http://schemas.microsoft.com/office/drawing/2014/main" id="{E9C89131-C468-9EE9-B1EC-76CC3CA25362}"/>
              </a:ext>
            </a:extLst>
          </p:cNvPr>
          <p:cNvSpPr/>
          <p:nvPr/>
        </p:nvSpPr>
        <p:spPr>
          <a:xfrm rot="5400000">
            <a:off x="-268823" y="268827"/>
            <a:ext cx="2597107" cy="2059458"/>
          </a:xfrm>
          <a:prstGeom prst="rtTriangl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Medium" panose="020B0600000000000000" pitchFamily="34" charset="-122"/>
              <a:ea typeface="思源黑体 CN Normal" panose="020B04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直角三角形 5">
            <a:extLst>
              <a:ext uri="{FF2B5EF4-FFF2-40B4-BE49-F238E27FC236}">
                <a16:creationId xmlns:a16="http://schemas.microsoft.com/office/drawing/2014/main" id="{5BEEDEA0-B9B8-21CA-66CF-2E5BDF586B0D}"/>
              </a:ext>
            </a:extLst>
          </p:cNvPr>
          <p:cNvSpPr/>
          <p:nvPr/>
        </p:nvSpPr>
        <p:spPr>
          <a:xfrm rot="5400000">
            <a:off x="-243016" y="243020"/>
            <a:ext cx="2347782" cy="1861748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Medium" panose="020B0600000000000000" pitchFamily="34" charset="-122"/>
              <a:ea typeface="思源黑体 CN Normal" panose="020B04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23C9360-FB3D-D231-A79C-1BE4CDEA6B19}"/>
              </a:ext>
            </a:extLst>
          </p:cNvPr>
          <p:cNvSpPr/>
          <p:nvPr/>
        </p:nvSpPr>
        <p:spPr>
          <a:xfrm>
            <a:off x="1861749" y="1565484"/>
            <a:ext cx="9357330" cy="819370"/>
          </a:xfrm>
          <a:prstGeom prst="rect">
            <a:avLst/>
          </a:prstGeom>
        </p:spPr>
        <p:txBody>
          <a:bodyPr wrap="square">
            <a:normAutofit fontScale="70000" lnSpcReduction="20000"/>
          </a:bodyPr>
          <a:lstStyle/>
          <a:p>
            <a:r>
              <a:rPr lang="fr-CA" sz="7200" b="1" dirty="0">
                <a:latin typeface="Lao UI" panose="020B0502040204020203" pitchFamily="34" charset="0"/>
                <a:cs typeface="Lao UI" panose="020B0502040204020203" pitchFamily="34" charset="0"/>
              </a:rPr>
              <a:t>Prédiction du prix des voitures</a:t>
            </a:r>
          </a:p>
          <a:p>
            <a:endParaRPr lang="fr-CA" sz="7200" dirty="0">
              <a:latin typeface="Lao UI" panose="020B0502040204020203" pitchFamily="34" charset="0"/>
              <a:cs typeface="Lao UI" panose="020B0502040204020203" pitchFamily="34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7068B41-F4F5-07C7-E7AB-61CDC3914278}"/>
              </a:ext>
            </a:extLst>
          </p:cNvPr>
          <p:cNvSpPr/>
          <p:nvPr/>
        </p:nvSpPr>
        <p:spPr>
          <a:xfrm>
            <a:off x="2191455" y="3232266"/>
            <a:ext cx="8914784" cy="156284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/>
            <a:r>
              <a:rPr lang="fr-CA" sz="2400" dirty="0">
                <a:latin typeface="Lao UI" panose="020B0502040204020203" pitchFamily="34" charset="0"/>
                <a:cs typeface="Lao UI" panose="020B0502040204020203" pitchFamily="34" charset="0"/>
              </a:rPr>
              <a:t>Projet de mi-session </a:t>
            </a:r>
          </a:p>
          <a:p>
            <a:pPr algn="ctr"/>
            <a:r>
              <a:rPr lang="fr-CA" sz="2400" dirty="0">
                <a:latin typeface="Lao UI" panose="020B0502040204020203" pitchFamily="34" charset="0"/>
                <a:cs typeface="Lao UI" panose="020B0502040204020203" pitchFamily="34" charset="0"/>
              </a:rPr>
              <a:t>NF1833 Université du Québec en Outaouais </a:t>
            </a:r>
          </a:p>
          <a:p>
            <a:pPr algn="ctr"/>
            <a:r>
              <a:rPr lang="fr-CA" sz="2400" dirty="0">
                <a:latin typeface="Lao UI" panose="020B0502040204020203" pitchFamily="34" charset="0"/>
                <a:cs typeface="Lao UI" panose="020B0502040204020203" pitchFamily="34" charset="0"/>
              </a:rPr>
              <a:t> Département d’informatique</a:t>
            </a:r>
          </a:p>
        </p:txBody>
      </p:sp>
      <p:sp>
        <p:nvSpPr>
          <p:cNvPr id="15" name="TextBox 60">
            <a:extLst>
              <a:ext uri="{FF2B5EF4-FFF2-40B4-BE49-F238E27FC236}">
                <a16:creationId xmlns:a16="http://schemas.microsoft.com/office/drawing/2014/main" id="{5ADC9751-0B45-B564-B973-46522F420805}"/>
              </a:ext>
            </a:extLst>
          </p:cNvPr>
          <p:cNvSpPr txBox="1"/>
          <p:nvPr/>
        </p:nvSpPr>
        <p:spPr>
          <a:xfrm>
            <a:off x="6001382" y="2178982"/>
            <a:ext cx="1847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1218896"/>
            <a:endParaRPr lang="en-US" sz="1400" b="1" spc="200">
              <a:solidFill>
                <a:schemeClr val="tx1">
                  <a:lumMod val="95000"/>
                  <a:lumOff val="5000"/>
                </a:schemeClr>
              </a:solidFill>
              <a:latin typeface="思源黑体 CN Medium" panose="020B0600000000000000" pitchFamily="34" charset="-122"/>
              <a:ea typeface="思源黑体 CN Normal" panose="020B04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B3BA8FD-D44B-0096-6BBE-C3D73B0D12E1}"/>
              </a:ext>
            </a:extLst>
          </p:cNvPr>
          <p:cNvSpPr txBox="1"/>
          <p:nvPr/>
        </p:nvSpPr>
        <p:spPr>
          <a:xfrm>
            <a:off x="3683384" y="4713612"/>
            <a:ext cx="5005456" cy="106475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 defTabSz="1219140"/>
            <a:r>
              <a:rPr lang="fr-CA" dirty="0">
                <a:latin typeface="Lao UI" panose="020B0502040204020203" pitchFamily="34" charset="0"/>
                <a:cs typeface="Lao UI" panose="020B0502040204020203" pitchFamily="34" charset="0"/>
              </a:rPr>
              <a:t>Professeur : Prof. N’</a:t>
            </a:r>
            <a:r>
              <a:rPr lang="fr-CA" dirty="0" err="1">
                <a:latin typeface="Lao UI" panose="020B0502040204020203" pitchFamily="34" charset="0"/>
                <a:cs typeface="Lao UI" panose="020B0502040204020203" pitchFamily="34" charset="0"/>
              </a:rPr>
              <a:t>dah</a:t>
            </a:r>
            <a:r>
              <a:rPr lang="fr-CA" dirty="0">
                <a:latin typeface="Lao UI" panose="020B0502040204020203" pitchFamily="34" charset="0"/>
                <a:cs typeface="Lao UI" panose="020B0502040204020203" pitchFamily="34" charset="0"/>
              </a:rPr>
              <a:t> Daniel </a:t>
            </a:r>
            <a:r>
              <a:rPr lang="fr-CA" dirty="0" err="1">
                <a:latin typeface="Lao UI" panose="020B0502040204020203" pitchFamily="34" charset="0"/>
                <a:cs typeface="Lao UI" panose="020B0502040204020203" pitchFamily="34" charset="0"/>
              </a:rPr>
              <a:t>Yapi</a:t>
            </a:r>
            <a:endParaRPr lang="fr-CA" dirty="0">
              <a:latin typeface="Lao UI" panose="020B0502040204020203" pitchFamily="34" charset="0"/>
              <a:cs typeface="Lao UI" panose="020B0502040204020203" pitchFamily="34" charset="0"/>
            </a:endParaRPr>
          </a:p>
          <a:p>
            <a:pPr algn="ctr" defTabSz="1219140"/>
            <a:r>
              <a:rPr lang="fr-CA" dirty="0">
                <a:latin typeface="Lao UI" panose="020B0502040204020203" pitchFamily="34" charset="0"/>
                <a:cs typeface="Lao UI" panose="020B0502040204020203" pitchFamily="34" charset="0"/>
              </a:rPr>
              <a:t> </a:t>
            </a:r>
          </a:p>
          <a:p>
            <a:pPr algn="ctr" defTabSz="1219140"/>
            <a:r>
              <a:rPr lang="fr-CA" dirty="0">
                <a:latin typeface="Lao UI" panose="020B0502040204020203" pitchFamily="34" charset="0"/>
                <a:cs typeface="Lao UI" panose="020B0502040204020203" pitchFamily="34" charset="0"/>
              </a:rPr>
              <a:t>Date : 21 octobre 2025</a:t>
            </a:r>
            <a:r>
              <a:rPr lang="fr-FR" altLang="fr-FR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Lao UI" panose="020B0502040204020203" pitchFamily="34" charset="0"/>
                <a:ea typeface="Lato"/>
                <a:cs typeface="Lao UI" panose="020B0502040204020203" pitchFamily="34" charset="0"/>
                <a:sym typeface="思源黑体 CN Medium" panose="020B0600000000000000" pitchFamily="34" charset="-122"/>
              </a:rPr>
              <a:t>:</a:t>
            </a:r>
            <a:endParaRPr lang="zh-CN" altLang="en-US" sz="1800" dirty="0">
              <a:solidFill>
                <a:schemeClr val="tx1">
                  <a:lumMod val="95000"/>
                  <a:lumOff val="5000"/>
                </a:schemeClr>
              </a:solidFill>
              <a:latin typeface="Lao UI" panose="020B0502040204020203" pitchFamily="34" charset="0"/>
              <a:ea typeface="思源黑体 CN Normal" panose="020B0400000000000000" pitchFamily="34" charset="-122"/>
              <a:cs typeface="Lao UI" panose="020B0502040204020203" pitchFamily="34" charset="0"/>
              <a:sym typeface="思源黑体 CN Medium" panose="020B0600000000000000" pitchFamily="34" charset="-122"/>
            </a:endParaRPr>
          </a:p>
        </p:txBody>
      </p:sp>
      <p:sp>
        <p:nvSpPr>
          <p:cNvPr id="18" name="graduation-hat-front-view_27483">
            <a:extLst>
              <a:ext uri="{FF2B5EF4-FFF2-40B4-BE49-F238E27FC236}">
                <a16:creationId xmlns:a16="http://schemas.microsoft.com/office/drawing/2014/main" id="{0C45DCD3-C454-D9DA-07F6-D163907A31EF}"/>
              </a:ext>
            </a:extLst>
          </p:cNvPr>
          <p:cNvSpPr/>
          <p:nvPr/>
        </p:nvSpPr>
        <p:spPr>
          <a:xfrm>
            <a:off x="5247308" y="447919"/>
            <a:ext cx="1692877" cy="1069701"/>
          </a:xfrm>
          <a:custGeom>
            <a:avLst/>
            <a:gdLst>
              <a:gd name="connsiteX0" fmla="*/ 104550 w 604718"/>
              <a:gd name="connsiteY0" fmla="*/ 208330 h 382112"/>
              <a:gd name="connsiteX1" fmla="*/ 156180 w 604718"/>
              <a:gd name="connsiteY1" fmla="*/ 208330 h 382112"/>
              <a:gd name="connsiteX2" fmla="*/ 261642 w 604718"/>
              <a:gd name="connsiteY2" fmla="*/ 248878 h 382112"/>
              <a:gd name="connsiteX3" fmla="*/ 298947 w 604718"/>
              <a:gd name="connsiteY3" fmla="*/ 255007 h 382112"/>
              <a:gd name="connsiteX4" fmla="*/ 340187 w 604718"/>
              <a:gd name="connsiteY4" fmla="*/ 247621 h 382112"/>
              <a:gd name="connsiteX5" fmla="*/ 433687 w 604718"/>
              <a:gd name="connsiteY5" fmla="*/ 208330 h 382112"/>
              <a:gd name="connsiteX6" fmla="*/ 490825 w 604718"/>
              <a:gd name="connsiteY6" fmla="*/ 208330 h 382112"/>
              <a:gd name="connsiteX7" fmla="*/ 490825 w 604718"/>
              <a:gd name="connsiteY7" fmla="*/ 271509 h 382112"/>
              <a:gd name="connsiteX8" fmla="*/ 458400 w 604718"/>
              <a:gd name="connsiteY8" fmla="*/ 320701 h 382112"/>
              <a:gd name="connsiteX9" fmla="*/ 329326 w 604718"/>
              <a:gd name="connsiteY9" fmla="*/ 376337 h 382112"/>
              <a:gd name="connsiteX10" fmla="*/ 264632 w 604718"/>
              <a:gd name="connsiteY10" fmla="*/ 376337 h 382112"/>
              <a:gd name="connsiteX11" fmla="*/ 136819 w 604718"/>
              <a:gd name="connsiteY11" fmla="*/ 320701 h 382112"/>
              <a:gd name="connsiteX12" fmla="*/ 104550 w 604718"/>
              <a:gd name="connsiteY12" fmla="*/ 271509 h 382112"/>
              <a:gd name="connsiteX13" fmla="*/ 300973 w 604718"/>
              <a:gd name="connsiteY13" fmla="*/ 5 h 382112"/>
              <a:gd name="connsiteX14" fmla="*/ 334162 w 604718"/>
              <a:gd name="connsiteY14" fmla="*/ 4701 h 382112"/>
              <a:gd name="connsiteX15" fmla="*/ 581267 w 604718"/>
              <a:gd name="connsiteY15" fmla="*/ 92552 h 382112"/>
              <a:gd name="connsiteX16" fmla="*/ 588822 w 604718"/>
              <a:gd name="connsiteY16" fmla="*/ 114398 h 382112"/>
              <a:gd name="connsiteX17" fmla="*/ 589136 w 604718"/>
              <a:gd name="connsiteY17" fmla="*/ 114398 h 382112"/>
              <a:gd name="connsiteX18" fmla="*/ 589136 w 604718"/>
              <a:gd name="connsiteY18" fmla="*/ 270771 h 382112"/>
              <a:gd name="connsiteX19" fmla="*/ 604718 w 604718"/>
              <a:gd name="connsiteY19" fmla="*/ 321376 h 382112"/>
              <a:gd name="connsiteX20" fmla="*/ 561278 w 604718"/>
              <a:gd name="connsiteY20" fmla="*/ 321376 h 382112"/>
              <a:gd name="connsiteX21" fmla="*/ 576388 w 604718"/>
              <a:gd name="connsiteY21" fmla="*/ 271242 h 382112"/>
              <a:gd name="connsiteX22" fmla="*/ 576388 w 604718"/>
              <a:gd name="connsiteY22" fmla="*/ 120370 h 382112"/>
              <a:gd name="connsiteX23" fmla="*/ 333376 w 604718"/>
              <a:gd name="connsiteY23" fmla="*/ 222680 h 382112"/>
              <a:gd name="connsiteX24" fmla="*/ 268058 w 604718"/>
              <a:gd name="connsiteY24" fmla="*/ 223780 h 382112"/>
              <a:gd name="connsiteX25" fmla="*/ 13556 w 604718"/>
              <a:gd name="connsiteY25" fmla="*/ 125870 h 382112"/>
              <a:gd name="connsiteX26" fmla="*/ 13714 w 604718"/>
              <a:gd name="connsiteY26" fmla="*/ 100882 h 382112"/>
              <a:gd name="connsiteX27" fmla="*/ 267901 w 604718"/>
              <a:gd name="connsiteY27" fmla="*/ 5329 h 382112"/>
              <a:gd name="connsiteX28" fmla="*/ 300973 w 604718"/>
              <a:gd name="connsiteY28" fmla="*/ 5 h 382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604718" h="382112">
                <a:moveTo>
                  <a:pt x="104550" y="208330"/>
                </a:moveTo>
                <a:lnTo>
                  <a:pt x="156180" y="208330"/>
                </a:lnTo>
                <a:lnTo>
                  <a:pt x="261642" y="248878"/>
                </a:lnTo>
                <a:cubicBezTo>
                  <a:pt x="274864" y="253907"/>
                  <a:pt x="289188" y="255007"/>
                  <a:pt x="298947" y="255007"/>
                </a:cubicBezTo>
                <a:cubicBezTo>
                  <a:pt x="314373" y="255007"/>
                  <a:pt x="329012" y="252493"/>
                  <a:pt x="340187" y="247621"/>
                </a:cubicBezTo>
                <a:lnTo>
                  <a:pt x="433687" y="208330"/>
                </a:lnTo>
                <a:lnTo>
                  <a:pt x="490825" y="208330"/>
                </a:lnTo>
                <a:lnTo>
                  <a:pt x="490825" y="271509"/>
                </a:lnTo>
                <a:cubicBezTo>
                  <a:pt x="490825" y="290998"/>
                  <a:pt x="476344" y="313000"/>
                  <a:pt x="458400" y="320701"/>
                </a:cubicBezTo>
                <a:lnTo>
                  <a:pt x="329326" y="376337"/>
                </a:lnTo>
                <a:cubicBezTo>
                  <a:pt x="311382" y="384038"/>
                  <a:pt x="282419" y="384038"/>
                  <a:pt x="264632" y="376337"/>
                </a:cubicBezTo>
                <a:lnTo>
                  <a:pt x="136819" y="320701"/>
                </a:lnTo>
                <a:cubicBezTo>
                  <a:pt x="119032" y="313000"/>
                  <a:pt x="104550" y="290998"/>
                  <a:pt x="104550" y="271509"/>
                </a:cubicBezTo>
                <a:close/>
                <a:moveTo>
                  <a:pt x="300973" y="5"/>
                </a:moveTo>
                <a:cubicBezTo>
                  <a:pt x="312954" y="-93"/>
                  <a:pt x="324955" y="1479"/>
                  <a:pt x="334162" y="4701"/>
                </a:cubicBezTo>
                <a:lnTo>
                  <a:pt x="581267" y="92552"/>
                </a:lnTo>
                <a:cubicBezTo>
                  <a:pt x="596849" y="98053"/>
                  <a:pt x="599210" y="107168"/>
                  <a:pt x="588822" y="114398"/>
                </a:cubicBezTo>
                <a:lnTo>
                  <a:pt x="589136" y="114398"/>
                </a:lnTo>
                <a:lnTo>
                  <a:pt x="589136" y="270771"/>
                </a:lnTo>
                <a:lnTo>
                  <a:pt x="604718" y="321376"/>
                </a:lnTo>
                <a:lnTo>
                  <a:pt x="561278" y="321376"/>
                </a:lnTo>
                <a:lnTo>
                  <a:pt x="576388" y="271242"/>
                </a:lnTo>
                <a:lnTo>
                  <a:pt x="576388" y="120370"/>
                </a:lnTo>
                <a:lnTo>
                  <a:pt x="333376" y="222680"/>
                </a:lnTo>
                <a:cubicBezTo>
                  <a:pt x="315433" y="230224"/>
                  <a:pt x="286158" y="230695"/>
                  <a:pt x="268058" y="223780"/>
                </a:cubicBezTo>
                <a:lnTo>
                  <a:pt x="13556" y="125870"/>
                </a:lnTo>
                <a:cubicBezTo>
                  <a:pt x="-4544" y="118798"/>
                  <a:pt x="-4544" y="107640"/>
                  <a:pt x="13714" y="100882"/>
                </a:cubicBezTo>
                <a:lnTo>
                  <a:pt x="267901" y="5329"/>
                </a:lnTo>
                <a:cubicBezTo>
                  <a:pt x="277030" y="1872"/>
                  <a:pt x="288991" y="104"/>
                  <a:pt x="300973" y="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思源黑体 CN Medium" panose="020B0600000000000000" pitchFamily="34" charset="-122"/>
              <a:ea typeface="思源黑体 CN Normal" panose="020B0400000000000000" pitchFamily="34" charset="-122"/>
              <a:sym typeface="思源黑体 CN Medium" panose="020B0600000000000000" pitchFamily="34" charset="-122"/>
            </a:endParaRPr>
          </a:p>
        </p:txBody>
      </p:sp>
      <p:pic>
        <p:nvPicPr>
          <p:cNvPr id="19" name="焕然一新">
            <a:hlinkClick r:id="" action="ppaction://media"/>
            <a:extLst>
              <a:ext uri="{FF2B5EF4-FFF2-40B4-BE49-F238E27FC236}">
                <a16:creationId xmlns:a16="http://schemas.microsoft.com/office/drawing/2014/main" id="{75A02AE8-9926-1DB1-A772-133907323CBB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>
                  <p14:fade in="500" out="500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75394" y="7095156"/>
            <a:ext cx="406400" cy="406400"/>
          </a:xfrm>
          <a:prstGeom prst="rect">
            <a:avLst/>
          </a:prstGeom>
        </p:spPr>
      </p:pic>
      <p:sp>
        <p:nvSpPr>
          <p:cNvPr id="8" name="矩形 12">
            <a:extLst>
              <a:ext uri="{FF2B5EF4-FFF2-40B4-BE49-F238E27FC236}">
                <a16:creationId xmlns:a16="http://schemas.microsoft.com/office/drawing/2014/main" id="{7AE0BE6F-9437-9F17-E591-5D0B8ACC28F2}"/>
              </a:ext>
            </a:extLst>
          </p:cNvPr>
          <p:cNvSpPr/>
          <p:nvPr/>
        </p:nvSpPr>
        <p:spPr>
          <a:xfrm>
            <a:off x="2397638" y="2330503"/>
            <a:ext cx="9357330" cy="81937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fr-CA" sz="2800" dirty="0"/>
              <a:t>Modélisation statistique et diagnostic du modèle final</a:t>
            </a:r>
            <a:endParaRPr lang="fr-CA" sz="2800" dirty="0">
              <a:latin typeface="Lao UI" panose="020B0502040204020203" pitchFamily="34" charset="0"/>
              <a:cs typeface="Lao UI" panose="020B0502040204020203" pitchFamily="34" charset="0"/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3629309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2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4600"/>
                            </p:stCondLst>
                            <p:childTnLst>
                              <p:par>
                                <p:cTn id="3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100"/>
                            </p:stCondLst>
                            <p:childTnLst>
                              <p:par>
                                <p:cTn id="4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600"/>
                            </p:stCondLst>
                            <p:childTnLst>
                              <p:par>
                                <p:cTn id="47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52" repeatCount="indefinite" fill="remove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  <p:bldLst>
      <p:bldP spid="5" grpId="0" animBg="1"/>
      <p:bldP spid="3" grpId="0" animBg="1"/>
      <p:bldP spid="2" grpId="0" animBg="1"/>
      <p:bldP spid="4" grpId="0" animBg="1"/>
      <p:bldP spid="7" grpId="0" animBg="1"/>
      <p:bldP spid="6" grpId="0" animBg="1"/>
      <p:bldP spid="13" grpId="0"/>
      <p:bldP spid="14" grpId="0"/>
      <p:bldP spid="16" grpId="0"/>
      <p:bldP spid="18" grpId="0" animBg="1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>
            <a:extLst>
              <a:ext uri="{FF2B5EF4-FFF2-40B4-BE49-F238E27FC236}">
                <a16:creationId xmlns:a16="http://schemas.microsoft.com/office/drawing/2014/main" id="{DFF5911F-1492-2144-8405-B70F568BB71C}"/>
              </a:ext>
            </a:extLst>
          </p:cNvPr>
          <p:cNvSpPr/>
          <p:nvPr/>
        </p:nvSpPr>
        <p:spPr>
          <a:xfrm flipH="1">
            <a:off x="9230626" y="5419022"/>
            <a:ext cx="2961373" cy="1438977"/>
          </a:xfrm>
          <a:prstGeom prst="rt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Medium" panose="020B0600000000000000" pitchFamily="34" charset="-122"/>
              <a:ea typeface="思源黑体 CN Normal" panose="020B04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3" name="直角三角形 2">
            <a:extLst>
              <a:ext uri="{FF2B5EF4-FFF2-40B4-BE49-F238E27FC236}">
                <a16:creationId xmlns:a16="http://schemas.microsoft.com/office/drawing/2014/main" id="{A64DD80A-922A-D33C-FBBE-0847EEAE6BD9}"/>
              </a:ext>
            </a:extLst>
          </p:cNvPr>
          <p:cNvSpPr/>
          <p:nvPr/>
        </p:nvSpPr>
        <p:spPr>
          <a:xfrm flipH="1">
            <a:off x="9603390" y="5600153"/>
            <a:ext cx="2588609" cy="1257845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Medium" panose="020B0600000000000000" pitchFamily="34" charset="-122"/>
              <a:ea typeface="思源黑体 CN Normal" panose="020B04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4" name="直角三角形 3">
            <a:extLst>
              <a:ext uri="{FF2B5EF4-FFF2-40B4-BE49-F238E27FC236}">
                <a16:creationId xmlns:a16="http://schemas.microsoft.com/office/drawing/2014/main" id="{6F0B7429-7987-9A17-16A0-16303B7CC99D}"/>
              </a:ext>
            </a:extLst>
          </p:cNvPr>
          <p:cNvSpPr/>
          <p:nvPr/>
        </p:nvSpPr>
        <p:spPr>
          <a:xfrm flipH="1">
            <a:off x="10841959" y="5600152"/>
            <a:ext cx="1350040" cy="1257846"/>
          </a:xfrm>
          <a:prstGeom prst="rtTriangl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Medium" panose="020B0600000000000000" pitchFamily="34" charset="-122"/>
              <a:ea typeface="思源黑体 CN Normal" panose="020B04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5" name="直角三角形 4">
            <a:extLst>
              <a:ext uri="{FF2B5EF4-FFF2-40B4-BE49-F238E27FC236}">
                <a16:creationId xmlns:a16="http://schemas.microsoft.com/office/drawing/2014/main" id="{50867267-913F-5080-F5CE-5763C54FC5B8}"/>
              </a:ext>
            </a:extLst>
          </p:cNvPr>
          <p:cNvSpPr/>
          <p:nvPr/>
        </p:nvSpPr>
        <p:spPr>
          <a:xfrm flipH="1">
            <a:off x="10971564" y="5720907"/>
            <a:ext cx="1220435" cy="1137091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Medium" panose="020B0600000000000000" pitchFamily="34" charset="-122"/>
              <a:ea typeface="思源黑体 CN Normal" panose="020B04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直角三角形 7">
            <a:extLst>
              <a:ext uri="{FF2B5EF4-FFF2-40B4-BE49-F238E27FC236}">
                <a16:creationId xmlns:a16="http://schemas.microsoft.com/office/drawing/2014/main" id="{2EE6A636-2A42-9717-5F47-55C4E8A7182B}"/>
              </a:ext>
            </a:extLst>
          </p:cNvPr>
          <p:cNvSpPr/>
          <p:nvPr/>
        </p:nvSpPr>
        <p:spPr>
          <a:xfrm flipV="1">
            <a:off x="0" y="0"/>
            <a:ext cx="2961373" cy="1438977"/>
          </a:xfrm>
          <a:prstGeom prst="rt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Medium" panose="020B0600000000000000" pitchFamily="34" charset="-122"/>
              <a:ea typeface="思源黑体 CN Normal" panose="020B04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直角三角形 8">
            <a:extLst>
              <a:ext uri="{FF2B5EF4-FFF2-40B4-BE49-F238E27FC236}">
                <a16:creationId xmlns:a16="http://schemas.microsoft.com/office/drawing/2014/main" id="{5EDF628B-5B39-0D03-0844-D75A83B5A6D7}"/>
              </a:ext>
            </a:extLst>
          </p:cNvPr>
          <p:cNvSpPr/>
          <p:nvPr/>
        </p:nvSpPr>
        <p:spPr>
          <a:xfrm flipV="1">
            <a:off x="0" y="1"/>
            <a:ext cx="2588609" cy="1257845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Medium" panose="020B0600000000000000" pitchFamily="34" charset="-122"/>
              <a:ea typeface="思源黑体 CN Normal" panose="020B04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直角三角形 9">
            <a:extLst>
              <a:ext uri="{FF2B5EF4-FFF2-40B4-BE49-F238E27FC236}">
                <a16:creationId xmlns:a16="http://schemas.microsoft.com/office/drawing/2014/main" id="{44AC0F94-E55E-E995-0388-17C9733B3A69}"/>
              </a:ext>
            </a:extLst>
          </p:cNvPr>
          <p:cNvSpPr/>
          <p:nvPr/>
        </p:nvSpPr>
        <p:spPr>
          <a:xfrm flipV="1">
            <a:off x="0" y="1"/>
            <a:ext cx="1350040" cy="1257846"/>
          </a:xfrm>
          <a:prstGeom prst="rtTriangl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Medium" panose="020B0600000000000000" pitchFamily="34" charset="-122"/>
              <a:ea typeface="思源黑体 CN Normal" panose="020B04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直角三角形 10">
            <a:extLst>
              <a:ext uri="{FF2B5EF4-FFF2-40B4-BE49-F238E27FC236}">
                <a16:creationId xmlns:a16="http://schemas.microsoft.com/office/drawing/2014/main" id="{F8FC33FA-55D4-8E1E-BC85-1B84D224395D}"/>
              </a:ext>
            </a:extLst>
          </p:cNvPr>
          <p:cNvSpPr/>
          <p:nvPr/>
        </p:nvSpPr>
        <p:spPr>
          <a:xfrm flipV="1">
            <a:off x="1" y="1"/>
            <a:ext cx="1220435" cy="1137091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Medium" panose="020B0600000000000000" pitchFamily="34" charset="-122"/>
              <a:ea typeface="思源黑体 CN Normal" panose="020B04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7384A52-AC6C-CC9F-2CAA-E77491E9E946}"/>
              </a:ext>
            </a:extLst>
          </p:cNvPr>
          <p:cNvSpPr txBox="1"/>
          <p:nvPr/>
        </p:nvSpPr>
        <p:spPr>
          <a:xfrm>
            <a:off x="2287846" y="157267"/>
            <a:ext cx="5537198" cy="886835"/>
          </a:xfrm>
          <a:prstGeom prst="rect">
            <a:avLst/>
          </a:prstGeom>
          <a:noFill/>
          <a:effectLst/>
        </p:spPr>
        <p:txBody>
          <a:bodyPr wrap="square" rtlCol="0">
            <a:normAutofit fontScale="70000" lnSpcReduction="20000"/>
          </a:bodyPr>
          <a:lstStyle>
            <a:defPPr>
              <a:defRPr lang="zh-CN"/>
            </a:defPPr>
            <a:lvl1pPr>
              <a:defRPr sz="3600" b="1" i="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</a:gradFill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a:defRPr>
            </a:lvl1pPr>
          </a:lstStyle>
          <a:p>
            <a:r>
              <a:rPr lang="fr-CA" sz="7200" dirty="0"/>
              <a:t>Objectif du projet</a:t>
            </a:r>
            <a:endParaRPr lang="fr-FR" altLang="fr-FR" sz="7200" dirty="0">
              <a:latin typeface="Lato"/>
              <a:ea typeface="Lato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3ECE5D9-6CE5-736B-BFD1-668B654647FE}"/>
              </a:ext>
            </a:extLst>
          </p:cNvPr>
          <p:cNvSpPr txBox="1"/>
          <p:nvPr/>
        </p:nvSpPr>
        <p:spPr>
          <a:xfrm>
            <a:off x="1350040" y="1137092"/>
            <a:ext cx="9872420" cy="455886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kumimoji="0" sz="900" i="0" u="none" strike="noStrike" cap="none" spc="0" normalizeH="0" baseline="0">
                <a:ln>
                  <a:noFill/>
                </a:ln>
                <a:effectLst/>
                <a:uLnTx/>
                <a:uFillTx/>
              </a:defRPr>
            </a:lvl1pPr>
          </a:lstStyle>
          <a:p>
            <a:pPr algn="l"/>
            <a:r>
              <a:rPr lang="fr-CA" sz="2000" b="1" dirty="0">
                <a:latin typeface="Lao UI" panose="020B0502040204020203" pitchFamily="34" charset="0"/>
                <a:cs typeface="Lao UI" panose="020B0502040204020203" pitchFamily="34" charset="0"/>
              </a:rPr>
              <a:t>Construire un modèle de régression</a:t>
            </a:r>
            <a:r>
              <a:rPr lang="fr-CA" sz="2000" dirty="0">
                <a:latin typeface="Lao UI" panose="020B0502040204020203" pitchFamily="34" charset="0"/>
                <a:cs typeface="Lao UI" panose="020B0502040204020203" pitchFamily="34" charset="0"/>
              </a:rPr>
              <a:t> pour prédire le prix d’un véhicule à partir de ses caractéristiques techniques</a:t>
            </a:r>
          </a:p>
          <a:p>
            <a:pPr algn="l"/>
            <a:r>
              <a:rPr lang="fr-CA" sz="2000" b="1" dirty="0" err="1">
                <a:latin typeface="Lao UI" panose="020B0502040204020203" pitchFamily="34" charset="0"/>
                <a:cs typeface="Lao UI" panose="020B0502040204020203" pitchFamily="34" charset="0"/>
              </a:rPr>
              <a:t>dentifier</a:t>
            </a:r>
            <a:r>
              <a:rPr lang="fr-CA" sz="2000" b="1" dirty="0">
                <a:latin typeface="Lao UI" panose="020B0502040204020203" pitchFamily="34" charset="0"/>
                <a:cs typeface="Lao UI" panose="020B0502040204020203" pitchFamily="34" charset="0"/>
              </a:rPr>
              <a:t> les variables les plus influentes</a:t>
            </a:r>
            <a:r>
              <a:rPr lang="fr-CA" sz="2000" dirty="0">
                <a:latin typeface="Lao UI" panose="020B0502040204020203" pitchFamily="34" charset="0"/>
                <a:cs typeface="Lao UI" panose="020B0502040204020203" pitchFamily="34" charset="0"/>
              </a:rPr>
              <a:t> sur le prix de vente</a:t>
            </a:r>
          </a:p>
          <a:p>
            <a:pPr algn="l"/>
            <a:r>
              <a:rPr lang="fr-CA" sz="2000" b="1" dirty="0">
                <a:latin typeface="Lao UI" panose="020B0502040204020203" pitchFamily="34" charset="0"/>
                <a:cs typeface="Lao UI" panose="020B0502040204020203" pitchFamily="34" charset="0"/>
              </a:rPr>
              <a:t>Diagnostiquer les problèmes statistiques</a:t>
            </a:r>
            <a:r>
              <a:rPr lang="fr-CA" sz="2000" dirty="0">
                <a:latin typeface="Lao UI" panose="020B0502040204020203" pitchFamily="34" charset="0"/>
                <a:cs typeface="Lao UI" panose="020B0502040204020203" pitchFamily="34" charset="0"/>
              </a:rPr>
              <a:t> susceptibles d’affecter la qualité du modèle :</a:t>
            </a:r>
          </a:p>
          <a:p>
            <a:pPr algn="l"/>
            <a:r>
              <a:rPr lang="fr-CA" sz="2000" i="1" dirty="0" err="1">
                <a:latin typeface="Lao UI" panose="020B0502040204020203" pitchFamily="34" charset="0"/>
                <a:cs typeface="Lao UI" panose="020B0502040204020203" pitchFamily="34" charset="0"/>
              </a:rPr>
              <a:t>Multicolinéarité</a:t>
            </a:r>
            <a:r>
              <a:rPr lang="fr-CA" sz="2000" dirty="0">
                <a:latin typeface="Lao UI" panose="020B0502040204020203" pitchFamily="34" charset="0"/>
                <a:cs typeface="Lao UI" panose="020B0502040204020203" pitchFamily="34" charset="0"/>
              </a:rPr>
              <a:t> entre les variables explicatives</a:t>
            </a:r>
          </a:p>
          <a:p>
            <a:pPr algn="l"/>
            <a:r>
              <a:rPr lang="fr-CA" sz="2000" i="1" dirty="0">
                <a:latin typeface="Lao UI" panose="020B0502040204020203" pitchFamily="34" charset="0"/>
                <a:cs typeface="Lao UI" panose="020B0502040204020203" pitchFamily="34" charset="0"/>
              </a:rPr>
              <a:t>Vérification des hypothèses LINE</a:t>
            </a:r>
            <a:r>
              <a:rPr lang="fr-CA" sz="2000" dirty="0">
                <a:latin typeface="Lao UI" panose="020B0502040204020203" pitchFamily="34" charset="0"/>
                <a:cs typeface="Lao UI" panose="020B0502040204020203" pitchFamily="34" charset="0"/>
              </a:rPr>
              <a:t> (linéarité, indépendance, normalité, homoscédasticité)</a:t>
            </a:r>
          </a:p>
          <a:p>
            <a:pPr algn="l"/>
            <a:r>
              <a:rPr lang="fr-CA" sz="2000" i="1" dirty="0">
                <a:latin typeface="Lao UI" panose="020B0502040204020203" pitchFamily="34" charset="0"/>
                <a:cs typeface="Lao UI" panose="020B0502040204020203" pitchFamily="34" charset="0"/>
              </a:rPr>
              <a:t>Détection des points atypiques et influents</a:t>
            </a:r>
            <a:endParaRPr lang="fr-CA" sz="2000" dirty="0">
              <a:latin typeface="Lao UI" panose="020B0502040204020203" pitchFamily="34" charset="0"/>
              <a:cs typeface="Lao UI" panose="020B0502040204020203" pitchFamily="34" charset="0"/>
            </a:endParaRPr>
          </a:p>
          <a:p>
            <a:pPr algn="l"/>
            <a:endParaRPr lang="fr-CA" sz="2000" dirty="0">
              <a:latin typeface="Lao UI" panose="020B0502040204020203" pitchFamily="34" charset="0"/>
              <a:cs typeface="Lao UI" panose="020B0502040204020203" pitchFamily="34" charset="0"/>
            </a:endParaRPr>
          </a:p>
          <a:p>
            <a:pPr algn="l"/>
            <a:endParaRPr lang="fr-FR" altLang="fr-FR" sz="2000" dirty="0">
              <a:latin typeface="Lao UI" panose="020B0502040204020203" pitchFamily="34" charset="0"/>
              <a:ea typeface="Lato"/>
              <a:cs typeface="Lao UI" panose="020B0502040204020203" pitchFamily="34" charset="0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4350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2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 animBg="1"/>
      <p:bldP spid="9" grpId="0" animBg="1"/>
      <p:bldP spid="10" grpId="0" animBg="1"/>
      <p:bldP spid="11" grpId="0" animBg="1"/>
      <p:bldP spid="13" grpId="0"/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2">
            <a:extLst>
              <a:ext uri="{FF2B5EF4-FFF2-40B4-BE49-F238E27FC236}">
                <a16:creationId xmlns:a16="http://schemas.microsoft.com/office/drawing/2014/main" id="{B95DD073-DAF2-CEF8-AC12-C8769284E34D}"/>
              </a:ext>
            </a:extLst>
          </p:cNvPr>
          <p:cNvSpPr txBox="1"/>
          <p:nvPr/>
        </p:nvSpPr>
        <p:spPr>
          <a:xfrm>
            <a:off x="335059" y="203762"/>
            <a:ext cx="6406704" cy="886835"/>
          </a:xfrm>
          <a:prstGeom prst="rect">
            <a:avLst/>
          </a:prstGeom>
          <a:noFill/>
          <a:effectLst/>
        </p:spPr>
        <p:txBody>
          <a:bodyPr wrap="square" rtlCol="0">
            <a:normAutofit fontScale="85000" lnSpcReduction="20000"/>
          </a:bodyPr>
          <a:lstStyle>
            <a:defPPr>
              <a:defRPr lang="zh-CN"/>
            </a:defPPr>
            <a:lvl1pPr>
              <a:defRPr sz="3600" b="1" i="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</a:gradFill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a:defRPr>
            </a:lvl1pPr>
          </a:lstStyle>
          <a:p>
            <a:r>
              <a:rPr lang="fr-CA" sz="7200" dirty="0"/>
              <a:t>Jeu de données</a:t>
            </a:r>
            <a:endParaRPr lang="fr-FR" altLang="fr-FR" sz="7200" dirty="0">
              <a:latin typeface="Lato"/>
              <a:ea typeface="Lato"/>
              <a:sym typeface="思源黑体 CN Medium" panose="020B0600000000000000" pitchFamily="34" charset="-122"/>
            </a:endParaRPr>
          </a:p>
        </p:txBody>
      </p:sp>
      <p:sp>
        <p:nvSpPr>
          <p:cNvPr id="19" name="文本框 27">
            <a:extLst>
              <a:ext uri="{FF2B5EF4-FFF2-40B4-BE49-F238E27FC236}">
                <a16:creationId xmlns:a16="http://schemas.microsoft.com/office/drawing/2014/main" id="{8E0593CA-0546-599D-2976-B691B123738C}"/>
              </a:ext>
            </a:extLst>
          </p:cNvPr>
          <p:cNvSpPr txBox="1"/>
          <p:nvPr/>
        </p:nvSpPr>
        <p:spPr>
          <a:xfrm>
            <a:off x="960895" y="1090597"/>
            <a:ext cx="10071315" cy="455886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kumimoji="0" sz="900" i="0" u="none" strike="noStrike" cap="none" spc="0" normalizeH="0" baseline="0">
                <a:ln>
                  <a:noFill/>
                </a:ln>
                <a:effectLst/>
                <a:uLnTx/>
                <a:uFillTx/>
              </a:defRPr>
            </a:lvl1pPr>
          </a:lstStyle>
          <a:p>
            <a:pPr algn="l"/>
            <a:endParaRPr lang="fr-CA" sz="2000" dirty="0"/>
          </a:p>
          <a:p>
            <a:pPr algn="l"/>
            <a:r>
              <a:rPr lang="fr-CA" sz="2000" dirty="0"/>
              <a:t>Source : fichier CSV fourni</a:t>
            </a:r>
          </a:p>
          <a:p>
            <a:pPr algn="l"/>
            <a:r>
              <a:rPr lang="fr-CA" sz="2000" b="1" dirty="0"/>
              <a:t>Variable cible</a:t>
            </a:r>
            <a:r>
              <a:rPr lang="fr-CA" sz="2000" dirty="0"/>
              <a:t> : </a:t>
            </a:r>
            <a:r>
              <a:rPr lang="fr-CA" dirty="0" err="1"/>
              <a:t>price</a:t>
            </a:r>
            <a:r>
              <a:rPr lang="fr-CA" sz="2000" dirty="0"/>
              <a:t> (prix du véhicule)</a:t>
            </a:r>
          </a:p>
          <a:p>
            <a:pPr algn="l"/>
            <a:r>
              <a:rPr lang="fr-CA" sz="2000" b="1" dirty="0"/>
              <a:t>Variables explicatives</a:t>
            </a:r>
            <a:r>
              <a:rPr lang="fr-CA" sz="2000" dirty="0"/>
              <a:t> :</a:t>
            </a:r>
          </a:p>
          <a:p>
            <a:pPr algn="l"/>
            <a:r>
              <a:rPr lang="en-US" sz="2000" dirty="0"/>
              <a:t>horsepower, </a:t>
            </a:r>
            <a:r>
              <a:rPr lang="en-US" sz="2000" dirty="0" err="1"/>
              <a:t>engine_size</a:t>
            </a:r>
            <a:r>
              <a:rPr lang="en-US" sz="2000" dirty="0"/>
              <a:t>, </a:t>
            </a:r>
            <a:r>
              <a:rPr lang="en-US" sz="2000" dirty="0" err="1"/>
              <a:t>curb_weight</a:t>
            </a:r>
            <a:r>
              <a:rPr lang="en-US" sz="2000" dirty="0"/>
              <a:t>, </a:t>
            </a:r>
            <a:r>
              <a:rPr lang="en-US" sz="2000" dirty="0" err="1"/>
              <a:t>city_mpg</a:t>
            </a:r>
            <a:r>
              <a:rPr lang="en-US" sz="2000" dirty="0"/>
              <a:t>, </a:t>
            </a:r>
            <a:r>
              <a:rPr lang="en-US" sz="2000" dirty="0" err="1"/>
              <a:t>highway_mpg</a:t>
            </a:r>
            <a:r>
              <a:rPr lang="en-US" sz="2000" dirty="0"/>
              <a:t>, wheelbase, </a:t>
            </a:r>
            <a:r>
              <a:rPr lang="en-US" sz="2000" dirty="0" err="1"/>
              <a:t>car_width</a:t>
            </a:r>
            <a:r>
              <a:rPr lang="en-US" sz="2000" dirty="0"/>
              <a:t>, </a:t>
            </a:r>
            <a:r>
              <a:rPr lang="en-US" sz="2000" dirty="0" err="1"/>
              <a:t>fuel_type</a:t>
            </a:r>
            <a:endParaRPr lang="fr-FR" altLang="fr-FR" sz="2000" dirty="0"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43919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2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D409E-F47C-679E-D643-B17605904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2">
            <a:extLst>
              <a:ext uri="{FF2B5EF4-FFF2-40B4-BE49-F238E27FC236}">
                <a16:creationId xmlns:a16="http://schemas.microsoft.com/office/drawing/2014/main" id="{8B2555CA-B79A-0D78-F7EF-62C58BD7E308}"/>
              </a:ext>
            </a:extLst>
          </p:cNvPr>
          <p:cNvSpPr txBox="1"/>
          <p:nvPr/>
        </p:nvSpPr>
        <p:spPr>
          <a:xfrm>
            <a:off x="335058" y="203762"/>
            <a:ext cx="8793444" cy="886835"/>
          </a:xfrm>
          <a:prstGeom prst="rect">
            <a:avLst/>
          </a:prstGeom>
          <a:noFill/>
          <a:effectLst/>
        </p:spPr>
        <p:txBody>
          <a:bodyPr wrap="square" rtlCol="0">
            <a:normAutofit fontScale="70000" lnSpcReduction="20000"/>
          </a:bodyPr>
          <a:lstStyle>
            <a:defPPr>
              <a:defRPr lang="zh-CN"/>
            </a:defPPr>
            <a:lvl1pPr>
              <a:defRPr sz="3600" b="1" i="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</a:gradFill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a:defRPr>
            </a:lvl1pPr>
          </a:lstStyle>
          <a:p>
            <a:r>
              <a:rPr lang="fr-CA" sz="7200" dirty="0"/>
              <a:t>Analyse exploratoire (EDA)</a:t>
            </a:r>
            <a:endParaRPr lang="fr-FR" altLang="fr-FR" sz="7200" dirty="0">
              <a:latin typeface="Lato"/>
              <a:ea typeface="Lato"/>
              <a:sym typeface="思源黑体 CN Medium" panose="020B0600000000000000" pitchFamily="34" charset="-122"/>
            </a:endParaRPr>
          </a:p>
        </p:txBody>
      </p:sp>
      <p:sp>
        <p:nvSpPr>
          <p:cNvPr id="19" name="文本框 27">
            <a:extLst>
              <a:ext uri="{FF2B5EF4-FFF2-40B4-BE49-F238E27FC236}">
                <a16:creationId xmlns:a16="http://schemas.microsoft.com/office/drawing/2014/main" id="{3B88A457-B218-7650-0247-0DAE2DA2E36A}"/>
              </a:ext>
            </a:extLst>
          </p:cNvPr>
          <p:cNvSpPr txBox="1"/>
          <p:nvPr/>
        </p:nvSpPr>
        <p:spPr>
          <a:xfrm>
            <a:off x="960895" y="1090597"/>
            <a:ext cx="10071315" cy="455886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kumimoji="0" sz="900" i="0" u="none" strike="noStrike" cap="none" spc="0" normalizeH="0" baseline="0">
                <a:ln>
                  <a:noFill/>
                </a:ln>
                <a:effectLst/>
                <a:uLnTx/>
                <a:uFillTx/>
              </a:defRPr>
            </a:lvl1pPr>
          </a:lstStyle>
          <a:p>
            <a:pPr algn="l"/>
            <a:r>
              <a:rPr lang="fr-CA" sz="2000" dirty="0"/>
              <a:t>Statistiques descriptives : moyenne, écart-type, asymétrie</a:t>
            </a:r>
          </a:p>
          <a:p>
            <a:pPr algn="l"/>
            <a:r>
              <a:rPr lang="fr-CA" sz="2000" dirty="0"/>
              <a:t>Visualisations : histogrammes, </a:t>
            </a:r>
            <a:r>
              <a:rPr lang="fr-CA" sz="2000" dirty="0" err="1"/>
              <a:t>boxplots</a:t>
            </a:r>
            <a:r>
              <a:rPr lang="fr-CA" sz="2000" dirty="0"/>
              <a:t>, </a:t>
            </a:r>
            <a:r>
              <a:rPr lang="fr-CA" sz="2000" dirty="0" err="1"/>
              <a:t>heatmaps</a:t>
            </a:r>
            <a:endParaRPr lang="fr-CA" sz="2000" dirty="0"/>
          </a:p>
          <a:p>
            <a:pPr algn="l"/>
            <a:r>
              <a:rPr lang="fr-CA" sz="2000" dirty="0"/>
              <a:t>Corrélations entre variables</a:t>
            </a:r>
          </a:p>
          <a:p>
            <a:pPr algn="l"/>
            <a:r>
              <a:rPr lang="fr-CA" sz="2000" dirty="0"/>
              <a:t>Hypothèses initiales sur les variables influentes</a:t>
            </a:r>
          </a:p>
          <a:p>
            <a:pPr algn="l"/>
            <a:endParaRPr lang="fr-CA" sz="2000" dirty="0"/>
          </a:p>
        </p:txBody>
      </p:sp>
    </p:spTree>
    <p:extLst>
      <p:ext uri="{BB962C8B-B14F-4D97-AF65-F5344CB8AC3E}">
        <p14:creationId xmlns:p14="http://schemas.microsoft.com/office/powerpoint/2010/main" val="27456434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2000">
        <p:random/>
      </p:transition>
    </mc:Choice>
    <mc:Fallback>
      <p:transition spd="slow" advClick="0" advTm="2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B0016-F383-851C-B61E-1E486C5BE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2">
            <a:extLst>
              <a:ext uri="{FF2B5EF4-FFF2-40B4-BE49-F238E27FC236}">
                <a16:creationId xmlns:a16="http://schemas.microsoft.com/office/drawing/2014/main" id="{48C8AE4D-E1C7-F385-D02F-A5A647748913}"/>
              </a:ext>
            </a:extLst>
          </p:cNvPr>
          <p:cNvSpPr txBox="1"/>
          <p:nvPr/>
        </p:nvSpPr>
        <p:spPr>
          <a:xfrm>
            <a:off x="335058" y="203762"/>
            <a:ext cx="8793444" cy="886835"/>
          </a:xfrm>
          <a:prstGeom prst="rect">
            <a:avLst/>
          </a:prstGeom>
          <a:noFill/>
          <a:effectLst/>
        </p:spPr>
        <p:txBody>
          <a:bodyPr wrap="square" rtlCol="0">
            <a:normAutofit fontScale="85000" lnSpcReduction="20000"/>
          </a:bodyPr>
          <a:lstStyle>
            <a:defPPr>
              <a:defRPr lang="zh-CN"/>
            </a:defPPr>
            <a:lvl1pPr>
              <a:defRPr sz="3600" b="1" i="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</a:gradFill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a:defRPr>
            </a:lvl1pPr>
          </a:lstStyle>
          <a:p>
            <a:r>
              <a:rPr lang="fr-CA" sz="7200" dirty="0"/>
              <a:t>Modélisation complète</a:t>
            </a:r>
            <a:endParaRPr lang="fr-FR" altLang="fr-FR" sz="7200" dirty="0">
              <a:latin typeface="Lato"/>
              <a:ea typeface="Lato"/>
              <a:sym typeface="思源黑体 CN Medium" panose="020B0600000000000000" pitchFamily="34" charset="-122"/>
            </a:endParaRPr>
          </a:p>
        </p:txBody>
      </p:sp>
      <p:sp>
        <p:nvSpPr>
          <p:cNvPr id="19" name="文本框 27">
            <a:extLst>
              <a:ext uri="{FF2B5EF4-FFF2-40B4-BE49-F238E27FC236}">
                <a16:creationId xmlns:a16="http://schemas.microsoft.com/office/drawing/2014/main" id="{0877394B-51E6-1342-D25A-3739EF52C79A}"/>
              </a:ext>
            </a:extLst>
          </p:cNvPr>
          <p:cNvSpPr txBox="1"/>
          <p:nvPr/>
        </p:nvSpPr>
        <p:spPr>
          <a:xfrm>
            <a:off x="960895" y="1090597"/>
            <a:ext cx="10071315" cy="455886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kumimoji="0" sz="900" i="0" u="none" strike="noStrike" cap="none" spc="0" normalizeH="0" baseline="0">
                <a:ln>
                  <a:noFill/>
                </a:ln>
                <a:effectLst/>
                <a:uLnTx/>
                <a:uFillTx/>
              </a:defRPr>
            </a:lvl1pPr>
          </a:lstStyle>
          <a:p>
            <a:pPr algn="l"/>
            <a:r>
              <a:rPr lang="fr-CA" sz="2000" dirty="0"/>
              <a:t>Régression linéaire multiple avec toutes les variables</a:t>
            </a:r>
          </a:p>
          <a:p>
            <a:pPr algn="l"/>
            <a:r>
              <a:rPr lang="fr-CA" sz="2000" dirty="0"/>
              <a:t>Encodage de </a:t>
            </a:r>
            <a:r>
              <a:rPr lang="fr-CA" dirty="0" err="1"/>
              <a:t>fuel_type</a:t>
            </a:r>
            <a:endParaRPr lang="fr-CA" dirty="0"/>
          </a:p>
          <a:p>
            <a:pPr algn="l"/>
            <a:r>
              <a:rPr lang="fr-CA" sz="2000" dirty="0"/>
              <a:t>Interprétation des coefficients</a:t>
            </a:r>
          </a:p>
          <a:p>
            <a:pPr algn="l"/>
            <a:r>
              <a:rPr lang="fr-CA" sz="2000" dirty="0"/>
              <a:t>Problèmes détectés : </a:t>
            </a:r>
            <a:r>
              <a:rPr lang="fr-CA" sz="2000" dirty="0" err="1"/>
              <a:t>multicolinéarité</a:t>
            </a:r>
            <a:endParaRPr lang="fr-CA" sz="2000" dirty="0"/>
          </a:p>
        </p:txBody>
      </p:sp>
    </p:spTree>
    <p:extLst>
      <p:ext uri="{BB962C8B-B14F-4D97-AF65-F5344CB8AC3E}">
        <p14:creationId xmlns:p14="http://schemas.microsoft.com/office/powerpoint/2010/main" val="34541228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2000">
        <p:random/>
      </p:transition>
    </mc:Choice>
    <mc:Fallback>
      <p:transition spd="slow" advClick="0" advTm="2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4FEC4-E310-BFCD-9C12-5998CF74A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2">
            <a:extLst>
              <a:ext uri="{FF2B5EF4-FFF2-40B4-BE49-F238E27FC236}">
                <a16:creationId xmlns:a16="http://schemas.microsoft.com/office/drawing/2014/main" id="{DB858676-0C51-1F18-FC9A-641AD2B51AC3}"/>
              </a:ext>
            </a:extLst>
          </p:cNvPr>
          <p:cNvSpPr txBox="1"/>
          <p:nvPr/>
        </p:nvSpPr>
        <p:spPr>
          <a:xfrm>
            <a:off x="335058" y="203762"/>
            <a:ext cx="10697152" cy="886835"/>
          </a:xfrm>
          <a:prstGeom prst="rect">
            <a:avLst/>
          </a:prstGeom>
          <a:noFill/>
          <a:effectLst/>
        </p:spPr>
        <p:txBody>
          <a:bodyPr wrap="square" rtlCol="0">
            <a:normAutofit fontScale="77500" lnSpcReduction="20000"/>
          </a:bodyPr>
          <a:lstStyle>
            <a:defPPr>
              <a:defRPr lang="zh-CN"/>
            </a:defPPr>
            <a:lvl1pPr>
              <a:defRPr sz="3600" b="1" i="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</a:gradFill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a:defRPr>
            </a:lvl1pPr>
          </a:lstStyle>
          <a:p>
            <a:r>
              <a:rPr lang="fr-CA" sz="7200" dirty="0"/>
              <a:t>Diagnostic de </a:t>
            </a:r>
            <a:r>
              <a:rPr lang="fr-CA" sz="7200" dirty="0" err="1"/>
              <a:t>multicolinéarité</a:t>
            </a:r>
            <a:endParaRPr lang="fr-FR" altLang="fr-FR" sz="7200" dirty="0">
              <a:latin typeface="Lato"/>
              <a:ea typeface="Lato"/>
              <a:sym typeface="思源黑体 CN Medium" panose="020B0600000000000000" pitchFamily="34" charset="-122"/>
            </a:endParaRPr>
          </a:p>
        </p:txBody>
      </p:sp>
      <p:sp>
        <p:nvSpPr>
          <p:cNvPr id="19" name="文本框 27">
            <a:extLst>
              <a:ext uri="{FF2B5EF4-FFF2-40B4-BE49-F238E27FC236}">
                <a16:creationId xmlns:a16="http://schemas.microsoft.com/office/drawing/2014/main" id="{9F80DF2A-4E04-C731-F4F3-FB85EBCE625E}"/>
              </a:ext>
            </a:extLst>
          </p:cNvPr>
          <p:cNvSpPr txBox="1"/>
          <p:nvPr/>
        </p:nvSpPr>
        <p:spPr>
          <a:xfrm>
            <a:off x="960895" y="1090597"/>
            <a:ext cx="10071315" cy="455886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kumimoji="0" sz="900" i="0" u="none" strike="noStrike" cap="none" spc="0" normalizeH="0" baseline="0">
                <a:ln>
                  <a:noFill/>
                </a:ln>
                <a:effectLst/>
                <a:uLnTx/>
                <a:uFillTx/>
              </a:defRPr>
            </a:lvl1pPr>
          </a:lstStyle>
          <a:p>
            <a:pPr algn="l"/>
            <a:r>
              <a:rPr lang="fr-CA" sz="2000" dirty="0"/>
              <a:t>Calcul du VIF</a:t>
            </a:r>
          </a:p>
          <a:p>
            <a:pPr algn="l"/>
            <a:r>
              <a:rPr lang="fr-CA" sz="2000" dirty="0"/>
              <a:t>Identification des variables problématiques</a:t>
            </a:r>
          </a:p>
          <a:p>
            <a:pPr algn="l"/>
            <a:r>
              <a:rPr lang="fr-CA" sz="2000" dirty="0"/>
              <a:t>Stratégie de remédiation : retrait ou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34887744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2000">
        <p:random/>
      </p:transition>
    </mc:Choice>
    <mc:Fallback>
      <p:transition spd="slow" advClick="0" advTm="2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29B03-11FD-1189-DC88-7E43D00F4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2">
            <a:extLst>
              <a:ext uri="{FF2B5EF4-FFF2-40B4-BE49-F238E27FC236}">
                <a16:creationId xmlns:a16="http://schemas.microsoft.com/office/drawing/2014/main" id="{ECC525BE-24FD-3CA7-8869-75AB041FFC35}"/>
              </a:ext>
            </a:extLst>
          </p:cNvPr>
          <p:cNvSpPr txBox="1"/>
          <p:nvPr/>
        </p:nvSpPr>
        <p:spPr>
          <a:xfrm>
            <a:off x="335058" y="203762"/>
            <a:ext cx="10697152" cy="886835"/>
          </a:xfrm>
          <a:prstGeom prst="rect">
            <a:avLst/>
          </a:prstGeom>
          <a:noFill/>
          <a:effectLst/>
        </p:spPr>
        <p:txBody>
          <a:bodyPr wrap="square" rtlCol="0">
            <a:normAutofit fontScale="85000" lnSpcReduction="20000"/>
          </a:bodyPr>
          <a:lstStyle>
            <a:defPPr>
              <a:defRPr lang="zh-CN"/>
            </a:defPPr>
            <a:lvl1pPr>
              <a:defRPr sz="3600" b="1" i="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</a:gradFill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a:defRPr>
            </a:lvl1pPr>
          </a:lstStyle>
          <a:p>
            <a:r>
              <a:rPr lang="fr-CA" sz="7200" dirty="0"/>
              <a:t>Sélection du modèle final</a:t>
            </a:r>
            <a:endParaRPr lang="fr-FR" altLang="fr-FR" sz="7200" dirty="0">
              <a:latin typeface="Lato"/>
              <a:ea typeface="Lato"/>
              <a:sym typeface="思源黑体 CN Medium" panose="020B0600000000000000" pitchFamily="34" charset="-122"/>
            </a:endParaRPr>
          </a:p>
        </p:txBody>
      </p:sp>
      <p:sp>
        <p:nvSpPr>
          <p:cNvPr id="19" name="文本框 27">
            <a:extLst>
              <a:ext uri="{FF2B5EF4-FFF2-40B4-BE49-F238E27FC236}">
                <a16:creationId xmlns:a16="http://schemas.microsoft.com/office/drawing/2014/main" id="{37F5FDCB-5FB7-C15D-24A5-13E5D745965D}"/>
              </a:ext>
            </a:extLst>
          </p:cNvPr>
          <p:cNvSpPr txBox="1"/>
          <p:nvPr/>
        </p:nvSpPr>
        <p:spPr>
          <a:xfrm>
            <a:off x="960895" y="1090597"/>
            <a:ext cx="10071315" cy="455886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kumimoji="0" sz="900" i="0" u="none" strike="noStrike" cap="none" spc="0" normalizeH="0" baseline="0">
                <a:ln>
                  <a:noFill/>
                </a:ln>
                <a:effectLst/>
                <a:uLnTx/>
                <a:uFillTx/>
              </a:defRPr>
            </a:lvl1pPr>
          </a:lstStyle>
          <a:p>
            <a:pPr algn="l"/>
            <a:r>
              <a:rPr lang="fr-CA" sz="2000" dirty="0">
                <a:latin typeface="Lao UI" panose="020B0502040204020203" pitchFamily="34" charset="0"/>
                <a:cs typeface="Lao UI" panose="020B0502040204020203" pitchFamily="34" charset="0"/>
              </a:rPr>
              <a:t>Comparaison : Modèle complet vs Modèle final</a:t>
            </a:r>
          </a:p>
          <a:p>
            <a:pPr algn="l"/>
            <a:r>
              <a:rPr lang="pt-BR" sz="2000" dirty="0">
                <a:latin typeface="Lao UI" panose="020B0502040204020203" pitchFamily="34" charset="0"/>
                <a:cs typeface="Lao UI" panose="020B0502040204020203" pitchFamily="34" charset="0"/>
              </a:rPr>
              <a:t>Critères : R² ajusté, AIC, BIC</a:t>
            </a:r>
          </a:p>
          <a:p>
            <a:pPr algn="l"/>
            <a:r>
              <a:rPr lang="fr-CA" sz="2000" dirty="0">
                <a:latin typeface="Lao UI" panose="020B0502040204020203" pitchFamily="34" charset="0"/>
                <a:cs typeface="Lao UI" panose="020B0502040204020203" pitchFamily="34" charset="0"/>
              </a:rPr>
              <a:t>Justification du choix</a:t>
            </a:r>
          </a:p>
        </p:txBody>
      </p:sp>
    </p:spTree>
    <p:extLst>
      <p:ext uri="{BB962C8B-B14F-4D97-AF65-F5344CB8AC3E}">
        <p14:creationId xmlns:p14="http://schemas.microsoft.com/office/powerpoint/2010/main" val="4433879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2000">
        <p:random/>
      </p:transition>
    </mc:Choice>
    <mc:Fallback>
      <p:transition spd="slow" advClick="0" advTm="2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AFEF2-3F7D-F85E-FCA2-DD2BE7995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2">
            <a:extLst>
              <a:ext uri="{FF2B5EF4-FFF2-40B4-BE49-F238E27FC236}">
                <a16:creationId xmlns:a16="http://schemas.microsoft.com/office/drawing/2014/main" id="{931BA223-B2BF-2437-E693-2E509C6FDFA9}"/>
              </a:ext>
            </a:extLst>
          </p:cNvPr>
          <p:cNvSpPr txBox="1"/>
          <p:nvPr/>
        </p:nvSpPr>
        <p:spPr>
          <a:xfrm>
            <a:off x="335058" y="203762"/>
            <a:ext cx="10697152" cy="886835"/>
          </a:xfrm>
          <a:prstGeom prst="rect">
            <a:avLst/>
          </a:prstGeom>
          <a:noFill/>
          <a:effectLst/>
        </p:spPr>
        <p:txBody>
          <a:bodyPr wrap="square" rtlCol="0">
            <a:normAutofit fontScale="77500" lnSpcReduction="20000"/>
          </a:bodyPr>
          <a:lstStyle>
            <a:defPPr>
              <a:defRPr lang="zh-CN"/>
            </a:defPPr>
            <a:lvl1pPr>
              <a:defRPr sz="3600" b="1" i="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</a:gradFill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a:defRPr>
            </a:lvl1pPr>
          </a:lstStyle>
          <a:p>
            <a:r>
              <a:rPr lang="fr-CA" sz="7200" dirty="0"/>
              <a:t>Interprétation des coefficients</a:t>
            </a:r>
          </a:p>
        </p:txBody>
      </p:sp>
      <p:sp>
        <p:nvSpPr>
          <p:cNvPr id="19" name="文本框 27">
            <a:extLst>
              <a:ext uri="{FF2B5EF4-FFF2-40B4-BE49-F238E27FC236}">
                <a16:creationId xmlns:a16="http://schemas.microsoft.com/office/drawing/2014/main" id="{1DFD2352-C084-5DB6-AD91-79C415517F97}"/>
              </a:ext>
            </a:extLst>
          </p:cNvPr>
          <p:cNvSpPr txBox="1"/>
          <p:nvPr/>
        </p:nvSpPr>
        <p:spPr>
          <a:xfrm>
            <a:off x="960895" y="1090597"/>
            <a:ext cx="10071315" cy="455886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kumimoji="0" sz="900" i="0" u="none" strike="noStrike" cap="none" spc="0" normalizeH="0" baseline="0">
                <a:ln>
                  <a:noFill/>
                </a:ln>
                <a:effectLst/>
                <a:uLnTx/>
                <a:uFillTx/>
              </a:defRPr>
            </a:lvl1pPr>
          </a:lstStyle>
          <a:p>
            <a:pPr algn="l"/>
            <a:r>
              <a:rPr lang="fr-CA" sz="2000" dirty="0"/>
              <a:t>Interprétation “toutes choses égales par ailleurs</a:t>
            </a:r>
            <a:endParaRPr lang="fr-CA" sz="2000" dirty="0">
              <a:latin typeface="Lao UI" panose="020B0502040204020203" pitchFamily="34" charset="0"/>
              <a:cs typeface="Lao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74577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2000">
        <p:random/>
      </p:transition>
    </mc:Choice>
    <mc:Fallback>
      <p:transition spd="slow" advClick="0" advTm="2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DAAAC-EBB6-92D1-F1C5-7BB98350F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2">
            <a:extLst>
              <a:ext uri="{FF2B5EF4-FFF2-40B4-BE49-F238E27FC236}">
                <a16:creationId xmlns:a16="http://schemas.microsoft.com/office/drawing/2014/main" id="{57F5C350-E684-EBE6-6A0A-97A582D75A41}"/>
              </a:ext>
            </a:extLst>
          </p:cNvPr>
          <p:cNvSpPr txBox="1"/>
          <p:nvPr/>
        </p:nvSpPr>
        <p:spPr>
          <a:xfrm>
            <a:off x="335058" y="203762"/>
            <a:ext cx="10697152" cy="886835"/>
          </a:xfrm>
          <a:prstGeom prst="rect">
            <a:avLst/>
          </a:prstGeom>
          <a:noFill/>
          <a:effectLst/>
        </p:spPr>
        <p:txBody>
          <a:bodyPr wrap="square" rtlCol="0">
            <a:normAutofit fontScale="85000" lnSpcReduction="20000"/>
          </a:bodyPr>
          <a:lstStyle>
            <a:defPPr>
              <a:defRPr lang="zh-CN"/>
            </a:defPPr>
            <a:lvl1pPr>
              <a:defRPr sz="3600" b="1" i="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</a:gradFill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a:defRPr>
            </a:lvl1pPr>
          </a:lstStyle>
          <a:p>
            <a:r>
              <a:rPr lang="fr-CA" sz="7200" dirty="0"/>
              <a:t>Diagnostic du modèle final</a:t>
            </a:r>
          </a:p>
        </p:txBody>
      </p:sp>
      <p:sp>
        <p:nvSpPr>
          <p:cNvPr id="19" name="文本框 27">
            <a:extLst>
              <a:ext uri="{FF2B5EF4-FFF2-40B4-BE49-F238E27FC236}">
                <a16:creationId xmlns:a16="http://schemas.microsoft.com/office/drawing/2014/main" id="{1A266920-C68E-E53A-2A63-9D4BE6529A2F}"/>
              </a:ext>
            </a:extLst>
          </p:cNvPr>
          <p:cNvSpPr txBox="1"/>
          <p:nvPr/>
        </p:nvSpPr>
        <p:spPr>
          <a:xfrm>
            <a:off x="960895" y="1090597"/>
            <a:ext cx="10071315" cy="455886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kumimoji="0" sz="900" i="0" u="none" strike="noStrike" cap="none" spc="0" normalizeH="0" baseline="0">
                <a:ln>
                  <a:noFill/>
                </a:ln>
                <a:effectLst/>
                <a:uLnTx/>
                <a:uFillTx/>
              </a:defRPr>
            </a:lvl1pPr>
          </a:lstStyle>
          <a:p>
            <a:pPr algn="l"/>
            <a:r>
              <a:rPr lang="fr-CA" sz="2000" dirty="0"/>
              <a:t>Hypothèses LINE :</a:t>
            </a:r>
          </a:p>
          <a:p>
            <a:pPr algn="l"/>
            <a:r>
              <a:rPr lang="fr-CA" sz="2000" dirty="0">
                <a:latin typeface="Lao UI" panose="020B0502040204020203" pitchFamily="34" charset="0"/>
                <a:cs typeface="Lao UI" panose="020B0502040204020203" pitchFamily="34" charset="0"/>
              </a:rPr>
              <a:t>  </a:t>
            </a:r>
            <a:r>
              <a:rPr lang="fr-CA" sz="2000" dirty="0"/>
              <a:t>Linéarité : graphique des résidus</a:t>
            </a:r>
          </a:p>
          <a:p>
            <a:pPr algn="l"/>
            <a:r>
              <a:rPr lang="fr-CA" sz="2000" dirty="0"/>
              <a:t>Homoscédasticité : dispersion des résidus</a:t>
            </a:r>
          </a:p>
          <a:p>
            <a:pPr algn="l"/>
            <a:r>
              <a:rPr lang="fr-CA" sz="2000" dirty="0"/>
              <a:t>Normalité : Q-Q plot</a:t>
            </a:r>
          </a:p>
          <a:p>
            <a:pPr algn="l"/>
            <a:r>
              <a:rPr lang="fr-CA" sz="2000" dirty="0"/>
              <a:t>Indépendance : discussion théorique</a:t>
            </a:r>
            <a:endParaRPr lang="fr-CA" sz="2000" dirty="0">
              <a:latin typeface="Lao UI" panose="020B0502040204020203" pitchFamily="34" charset="0"/>
              <a:cs typeface="Lao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23521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2000">
        <p:random/>
      </p:transition>
    </mc:Choice>
    <mc:Fallback>
      <p:transition spd="slow" advClick="0" advTm="2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A2A0C-328E-9BE3-C3BE-9D0E456BF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2">
            <a:extLst>
              <a:ext uri="{FF2B5EF4-FFF2-40B4-BE49-F238E27FC236}">
                <a16:creationId xmlns:a16="http://schemas.microsoft.com/office/drawing/2014/main" id="{F9DA5910-F336-11B7-EB5E-3A0AC57496CE}"/>
              </a:ext>
            </a:extLst>
          </p:cNvPr>
          <p:cNvSpPr txBox="1"/>
          <p:nvPr/>
        </p:nvSpPr>
        <p:spPr>
          <a:xfrm>
            <a:off x="335058" y="203762"/>
            <a:ext cx="10697152" cy="886835"/>
          </a:xfrm>
          <a:prstGeom prst="rect">
            <a:avLst/>
          </a:prstGeom>
          <a:noFill/>
          <a:effectLst/>
        </p:spPr>
        <p:txBody>
          <a:bodyPr wrap="square" rtlCol="0">
            <a:normAutofit fontScale="85000" lnSpcReduction="20000"/>
          </a:bodyPr>
          <a:lstStyle>
            <a:defPPr>
              <a:defRPr lang="zh-CN"/>
            </a:defPPr>
            <a:lvl1pPr>
              <a:defRPr sz="3600" b="1" i="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</a:gradFill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a:defRPr>
            </a:lvl1pPr>
          </a:lstStyle>
          <a:p>
            <a:r>
              <a:rPr lang="fr-CA" sz="7200" dirty="0"/>
              <a:t>Conclusion</a:t>
            </a:r>
          </a:p>
        </p:txBody>
      </p:sp>
      <p:sp>
        <p:nvSpPr>
          <p:cNvPr id="19" name="文本框 27">
            <a:extLst>
              <a:ext uri="{FF2B5EF4-FFF2-40B4-BE49-F238E27FC236}">
                <a16:creationId xmlns:a16="http://schemas.microsoft.com/office/drawing/2014/main" id="{D2C9CF22-F156-40E1-DAE8-616827321B7C}"/>
              </a:ext>
            </a:extLst>
          </p:cNvPr>
          <p:cNvSpPr txBox="1"/>
          <p:nvPr/>
        </p:nvSpPr>
        <p:spPr>
          <a:xfrm>
            <a:off x="960895" y="1090597"/>
            <a:ext cx="10071315" cy="455886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kumimoji="0" sz="900" i="0" u="none" strike="noStrike" cap="none" spc="0" normalizeH="0" baseline="0">
                <a:ln>
                  <a:noFill/>
                </a:ln>
                <a:effectLst/>
                <a:uLnTx/>
                <a:uFillTx/>
              </a:defRPr>
            </a:lvl1pPr>
          </a:lstStyle>
          <a:p>
            <a:pPr algn="l"/>
            <a:r>
              <a:rPr lang="fr-CA" sz="2000" dirty="0"/>
              <a:t>Modèle fiable et interprétable</a:t>
            </a:r>
          </a:p>
          <a:p>
            <a:pPr algn="l"/>
            <a:r>
              <a:rPr lang="fr-CA" sz="2000" dirty="0"/>
              <a:t>Variables clés :</a:t>
            </a:r>
          </a:p>
          <a:p>
            <a:pPr algn="l"/>
            <a:r>
              <a:rPr lang="fr-CA" sz="2000" dirty="0"/>
              <a:t>Limites : données, hypothèses, généralisation</a:t>
            </a:r>
          </a:p>
          <a:p>
            <a:pPr algn="l"/>
            <a:r>
              <a:rPr lang="fr-CA" sz="2000" dirty="0"/>
              <a:t>Recommandations :</a:t>
            </a:r>
            <a:endParaRPr lang="fr-CA" sz="2000" dirty="0">
              <a:latin typeface="Lao UI" panose="020B0502040204020203" pitchFamily="34" charset="0"/>
              <a:cs typeface="Lao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2933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2000">
        <p:random/>
      </p:transition>
    </mc:Choice>
    <mc:Fallback>
      <p:transition spd="slow" advClick="0" advTm="2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CBB6E-0F25-A5FA-ED33-90F43FA21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2">
            <a:extLst>
              <a:ext uri="{FF2B5EF4-FFF2-40B4-BE49-F238E27FC236}">
                <a16:creationId xmlns:a16="http://schemas.microsoft.com/office/drawing/2014/main" id="{2E2690DC-A92A-20BE-44E5-536F74DE4EAB}"/>
              </a:ext>
            </a:extLst>
          </p:cNvPr>
          <p:cNvSpPr txBox="1"/>
          <p:nvPr/>
        </p:nvSpPr>
        <p:spPr>
          <a:xfrm>
            <a:off x="335058" y="203762"/>
            <a:ext cx="10697152" cy="886835"/>
          </a:xfrm>
          <a:prstGeom prst="rect">
            <a:avLst/>
          </a:prstGeom>
          <a:noFill/>
          <a:effectLst/>
        </p:spPr>
        <p:txBody>
          <a:bodyPr wrap="square" rtlCol="0">
            <a:normAutofit fontScale="85000" lnSpcReduction="20000"/>
          </a:bodyPr>
          <a:lstStyle>
            <a:defPPr>
              <a:defRPr lang="zh-CN"/>
            </a:defPPr>
            <a:lvl1pPr>
              <a:defRPr sz="3600" b="1" i="0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</a:gradFill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a:defRPr>
            </a:lvl1pPr>
          </a:lstStyle>
          <a:p>
            <a:r>
              <a:rPr lang="fr-CA" sz="7200" dirty="0"/>
              <a:t>Contributions de l’équipe</a:t>
            </a:r>
          </a:p>
        </p:txBody>
      </p:sp>
      <p:sp>
        <p:nvSpPr>
          <p:cNvPr id="19" name="文本框 27">
            <a:extLst>
              <a:ext uri="{FF2B5EF4-FFF2-40B4-BE49-F238E27FC236}">
                <a16:creationId xmlns:a16="http://schemas.microsoft.com/office/drawing/2014/main" id="{D8D72600-9D6E-5CAE-9A46-9F5371C96F0C}"/>
              </a:ext>
            </a:extLst>
          </p:cNvPr>
          <p:cNvSpPr txBox="1"/>
          <p:nvPr/>
        </p:nvSpPr>
        <p:spPr>
          <a:xfrm>
            <a:off x="960895" y="1921790"/>
            <a:ext cx="10071315" cy="372767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kumimoji="0" sz="900" i="0" u="none" strike="noStrike" cap="none" spc="0" normalizeH="0" baseline="0">
                <a:ln>
                  <a:noFill/>
                </a:ln>
                <a:effectLst/>
                <a:uLnTx/>
                <a:uFillTx/>
              </a:defRPr>
            </a:lvl1pPr>
          </a:lstStyle>
          <a:p>
            <a:pPr algn="l"/>
            <a:endParaRPr lang="fr-CA" sz="2000" dirty="0">
              <a:latin typeface="Lao UI" panose="020B0502040204020203" pitchFamily="34" charset="0"/>
              <a:cs typeface="Lao UI" panose="020B0502040204020203" pitchFamily="34" charset="0"/>
            </a:endParaRP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58931CDC-2D12-183F-D1D6-DB1D147879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4899710"/>
              </p:ext>
            </p:extLst>
          </p:nvPr>
        </p:nvGraphicFramePr>
        <p:xfrm>
          <a:off x="838200" y="1921790"/>
          <a:ext cx="10515600" cy="2655708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6315536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7364093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215365200"/>
                    </a:ext>
                  </a:extLst>
                </a:gridCol>
              </a:tblGrid>
              <a:tr h="663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A" b="1"/>
                        <a:t>Nom</a:t>
                      </a:r>
                      <a:endParaRPr lang="fr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A" b="1"/>
                        <a:t>Rôle</a:t>
                      </a:r>
                      <a:endParaRPr lang="fr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A" b="1"/>
                        <a:t>Tâches principales</a:t>
                      </a:r>
                      <a:endParaRPr lang="fr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214814"/>
                  </a:ext>
                </a:extLst>
              </a:tr>
              <a:tr h="6639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dirty="0"/>
                        <a:t>Collaborateur 1</a:t>
                      </a:r>
                    </a:p>
                    <a:p>
                      <a:pPr>
                        <a:buNone/>
                      </a:pPr>
                      <a:endParaRPr lang="fr-CA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A"/>
                        <a:t>Chef de projet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A"/>
                        <a:t>Structuration, EDA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6351960"/>
                  </a:ext>
                </a:extLst>
              </a:tr>
              <a:tr h="663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A" dirty="0"/>
                        <a:t>Collaborateur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A"/>
                        <a:t>Analyste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A"/>
                        <a:t>Modélisation, diagnostics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3567175"/>
                  </a:ext>
                </a:extLst>
              </a:tr>
              <a:tr h="663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A" dirty="0"/>
                        <a:t>Collaborateur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A"/>
                        <a:t>Rapporteur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A" dirty="0"/>
                        <a:t>Rapport, présentation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7346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03751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2000">
        <p:random/>
      </p:transition>
    </mc:Choice>
    <mc:Fallback>
      <p:transition spd="slow" advClick="0" advTm="2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直角三角形 4">
            <a:extLst>
              <a:ext uri="{FF2B5EF4-FFF2-40B4-BE49-F238E27FC236}">
                <a16:creationId xmlns:a16="http://schemas.microsoft.com/office/drawing/2014/main" id="{03DC9A09-BE48-2551-DAE1-9ECA28254254}"/>
              </a:ext>
            </a:extLst>
          </p:cNvPr>
          <p:cNvSpPr/>
          <p:nvPr/>
        </p:nvSpPr>
        <p:spPr>
          <a:xfrm rot="16200000" flipH="1">
            <a:off x="8165556" y="1670426"/>
            <a:ext cx="5696870" cy="2356022"/>
          </a:xfrm>
          <a:prstGeom prst="rt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Medium" panose="020B0600000000000000" pitchFamily="34" charset="-122"/>
              <a:ea typeface="思源黑体 CN Normal" panose="020B04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3" name="直角三角形 2">
            <a:extLst>
              <a:ext uri="{FF2B5EF4-FFF2-40B4-BE49-F238E27FC236}">
                <a16:creationId xmlns:a16="http://schemas.microsoft.com/office/drawing/2014/main" id="{5C45FFC5-52E2-458C-D869-B7FE44EDD75E}"/>
              </a:ext>
            </a:extLst>
          </p:cNvPr>
          <p:cNvSpPr/>
          <p:nvPr/>
        </p:nvSpPr>
        <p:spPr>
          <a:xfrm rot="5400000">
            <a:off x="-1563130" y="1563132"/>
            <a:ext cx="4819137" cy="1692876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Medium" panose="020B0600000000000000" pitchFamily="34" charset="-122"/>
              <a:ea typeface="思源黑体 CN Normal" panose="020B04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" name="直角三角形 1">
            <a:extLst>
              <a:ext uri="{FF2B5EF4-FFF2-40B4-BE49-F238E27FC236}">
                <a16:creationId xmlns:a16="http://schemas.microsoft.com/office/drawing/2014/main" id="{BAEAB199-9CAC-AF3C-8A5F-1B137A6CA290}"/>
              </a:ext>
            </a:extLst>
          </p:cNvPr>
          <p:cNvSpPr/>
          <p:nvPr/>
        </p:nvSpPr>
        <p:spPr>
          <a:xfrm>
            <a:off x="1" y="4473146"/>
            <a:ext cx="6413157" cy="2384854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Medium" panose="020B0600000000000000" pitchFamily="34" charset="-122"/>
              <a:ea typeface="思源黑体 CN Normal" panose="020B04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4" name="直角三角形 3">
            <a:extLst>
              <a:ext uri="{FF2B5EF4-FFF2-40B4-BE49-F238E27FC236}">
                <a16:creationId xmlns:a16="http://schemas.microsoft.com/office/drawing/2014/main" id="{D3015D64-C621-C448-5AF7-BCCA50B02942}"/>
              </a:ext>
            </a:extLst>
          </p:cNvPr>
          <p:cNvSpPr/>
          <p:nvPr/>
        </p:nvSpPr>
        <p:spPr>
          <a:xfrm rot="16200000" flipH="1">
            <a:off x="8672385" y="1460161"/>
            <a:ext cx="4979775" cy="2059457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Medium" panose="020B0600000000000000" pitchFamily="34" charset="-122"/>
              <a:ea typeface="思源黑体 CN Normal" panose="020B04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直角三角形 6">
            <a:extLst>
              <a:ext uri="{FF2B5EF4-FFF2-40B4-BE49-F238E27FC236}">
                <a16:creationId xmlns:a16="http://schemas.microsoft.com/office/drawing/2014/main" id="{E9C89131-C468-9EE9-B1EC-76CC3CA25362}"/>
              </a:ext>
            </a:extLst>
          </p:cNvPr>
          <p:cNvSpPr/>
          <p:nvPr/>
        </p:nvSpPr>
        <p:spPr>
          <a:xfrm rot="16200000" flipH="1">
            <a:off x="9863718" y="268827"/>
            <a:ext cx="2597107" cy="2059458"/>
          </a:xfrm>
          <a:prstGeom prst="rtTriangl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Medium" panose="020B0600000000000000" pitchFamily="34" charset="-122"/>
              <a:ea typeface="思源黑体 CN Normal" panose="020B04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直角三角形 5">
            <a:extLst>
              <a:ext uri="{FF2B5EF4-FFF2-40B4-BE49-F238E27FC236}">
                <a16:creationId xmlns:a16="http://schemas.microsoft.com/office/drawing/2014/main" id="{5BEEDEA0-B9B8-21CA-66CF-2E5BDF586B0D}"/>
              </a:ext>
            </a:extLst>
          </p:cNvPr>
          <p:cNvSpPr/>
          <p:nvPr/>
        </p:nvSpPr>
        <p:spPr>
          <a:xfrm rot="16200000" flipH="1">
            <a:off x="10087236" y="243020"/>
            <a:ext cx="2347782" cy="1861748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Medium" panose="020B0600000000000000" pitchFamily="34" charset="-122"/>
              <a:ea typeface="思源黑体 CN Normal" panose="020B04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23C9360-FB3D-D231-A79C-1BE4CDEA6B19}"/>
              </a:ext>
            </a:extLst>
          </p:cNvPr>
          <p:cNvSpPr/>
          <p:nvPr/>
        </p:nvSpPr>
        <p:spPr>
          <a:xfrm flipH="1">
            <a:off x="1417337" y="2597110"/>
            <a:ext cx="9357330" cy="990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1219140"/>
            <a:r>
              <a:rPr lang="fr-FR" altLang="fr-FR" sz="5900" b="1" spc="-200">
                <a:solidFill>
                  <a:schemeClr val="tx1">
                    <a:lumMod val="95000"/>
                    <a:lumOff val="5000"/>
                  </a:schemeClr>
                </a:solidFill>
                <a:latin typeface="Lato"/>
                <a:ea typeface="Lato"/>
                <a:cs typeface="+mn-ea"/>
                <a:sym typeface="思源黑体 CN Medium" panose="020B0600000000000000" pitchFamily="34" charset="-122"/>
              </a:rPr>
              <a:t>Merci d'avoir regardé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7068B41-F4F5-07C7-E7AB-61CDC3914278}"/>
              </a:ext>
            </a:extLst>
          </p:cNvPr>
          <p:cNvSpPr/>
          <p:nvPr/>
        </p:nvSpPr>
        <p:spPr>
          <a:xfrm flipH="1">
            <a:off x="2204048" y="3855504"/>
            <a:ext cx="7780214" cy="56484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40">
              <a:lnSpc>
                <a:spcPct val="120000"/>
              </a:lnSpc>
              <a:buClr>
                <a:srgbClr val="E7E6E6">
                  <a:lumMod val="10000"/>
                </a:srgbClr>
              </a:buClr>
            </a:pPr>
            <a:r>
              <a:rPr lang="fr-FR" altLang="fr-FR" sz="1067">
                <a:solidFill>
                  <a:schemeClr val="tx1">
                    <a:lumMod val="95000"/>
                    <a:lumOff val="5000"/>
                  </a:schemeClr>
                </a:solidFill>
                <a:latin typeface="Lato"/>
                <a:ea typeface="Lato"/>
                <a:cs typeface="+mn-ea"/>
                <a:sym typeface="思源黑体 CN Medium" panose="020B0600000000000000" pitchFamily="34" charset="-122"/>
              </a:rPr>
              <a:t>Par foi, j'entends une vision du bien que l'on chérit et l'enthousiasme qui pousse à rechercher son accomplissement quels que soient les obstacles.</a:t>
            </a:r>
          </a:p>
        </p:txBody>
      </p:sp>
      <p:sp>
        <p:nvSpPr>
          <p:cNvPr id="15" name="TextBox 60">
            <a:extLst>
              <a:ext uri="{FF2B5EF4-FFF2-40B4-BE49-F238E27FC236}">
                <a16:creationId xmlns:a16="http://schemas.microsoft.com/office/drawing/2014/main" id="{5ADC9751-0B45-B564-B973-46522F420805}"/>
              </a:ext>
            </a:extLst>
          </p:cNvPr>
          <p:cNvSpPr txBox="1"/>
          <p:nvPr/>
        </p:nvSpPr>
        <p:spPr>
          <a:xfrm flipH="1">
            <a:off x="6005890" y="2178982"/>
            <a:ext cx="1847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1218896"/>
            <a:endParaRPr lang="en-US" sz="1400" b="1" spc="200">
              <a:solidFill>
                <a:schemeClr val="tx1">
                  <a:lumMod val="95000"/>
                  <a:lumOff val="5000"/>
                </a:schemeClr>
              </a:solidFill>
              <a:latin typeface="思源黑体 CN Medium" panose="020B0600000000000000" pitchFamily="34" charset="-122"/>
              <a:ea typeface="思源黑体 CN Normal" panose="020B04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B3BA8FD-D44B-0096-6BBE-C3D73B0D12E1}"/>
              </a:ext>
            </a:extLst>
          </p:cNvPr>
          <p:cNvSpPr txBox="1"/>
          <p:nvPr/>
        </p:nvSpPr>
        <p:spPr>
          <a:xfrm flipH="1">
            <a:off x="3690286" y="4795111"/>
            <a:ext cx="5005456" cy="36576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 defTabSz="1219140"/>
            <a:r>
              <a:rPr lang="fr-FR" altLang="fr-FR" sz="1800">
                <a:solidFill>
                  <a:schemeClr val="tx1">
                    <a:lumMod val="95000"/>
                    <a:lumOff val="5000"/>
                  </a:schemeClr>
                </a:solidFill>
                <a:latin typeface="Lato"/>
                <a:ea typeface="Lato"/>
                <a:cs typeface="+mn-ea"/>
                <a:sym typeface="思源黑体 CN Medium" panose="020B0600000000000000" pitchFamily="34" charset="-122"/>
              </a:rPr>
              <a:t>Journaliste : XXX Heure du rapport :</a:t>
            </a:r>
            <a:endParaRPr lang="zh-CN" altLang="en-US" sz="1800">
              <a:solidFill>
                <a:schemeClr val="tx1">
                  <a:lumMod val="95000"/>
                  <a:lumOff val="5000"/>
                </a:schemeClr>
              </a:solidFill>
              <a:latin typeface="思源黑体 CN Medium" panose="020B0600000000000000" pitchFamily="34" charset="-122"/>
              <a:ea typeface="思源黑体 CN Normal" panose="020B04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18" name="graduation-hat-front-view_27483">
            <a:extLst>
              <a:ext uri="{FF2B5EF4-FFF2-40B4-BE49-F238E27FC236}">
                <a16:creationId xmlns:a16="http://schemas.microsoft.com/office/drawing/2014/main" id="{0C45DCD3-C454-D9DA-07F6-D163907A31EF}"/>
              </a:ext>
            </a:extLst>
          </p:cNvPr>
          <p:cNvSpPr/>
          <p:nvPr/>
        </p:nvSpPr>
        <p:spPr>
          <a:xfrm flipH="1">
            <a:off x="5249564" y="1480785"/>
            <a:ext cx="1692877" cy="1069701"/>
          </a:xfrm>
          <a:custGeom>
            <a:avLst/>
            <a:gdLst>
              <a:gd name="connsiteX0" fmla="*/ 104550 w 604718"/>
              <a:gd name="connsiteY0" fmla="*/ 208330 h 382112"/>
              <a:gd name="connsiteX1" fmla="*/ 156180 w 604718"/>
              <a:gd name="connsiteY1" fmla="*/ 208330 h 382112"/>
              <a:gd name="connsiteX2" fmla="*/ 261642 w 604718"/>
              <a:gd name="connsiteY2" fmla="*/ 248878 h 382112"/>
              <a:gd name="connsiteX3" fmla="*/ 298947 w 604718"/>
              <a:gd name="connsiteY3" fmla="*/ 255007 h 382112"/>
              <a:gd name="connsiteX4" fmla="*/ 340187 w 604718"/>
              <a:gd name="connsiteY4" fmla="*/ 247621 h 382112"/>
              <a:gd name="connsiteX5" fmla="*/ 433687 w 604718"/>
              <a:gd name="connsiteY5" fmla="*/ 208330 h 382112"/>
              <a:gd name="connsiteX6" fmla="*/ 490825 w 604718"/>
              <a:gd name="connsiteY6" fmla="*/ 208330 h 382112"/>
              <a:gd name="connsiteX7" fmla="*/ 490825 w 604718"/>
              <a:gd name="connsiteY7" fmla="*/ 271509 h 382112"/>
              <a:gd name="connsiteX8" fmla="*/ 458400 w 604718"/>
              <a:gd name="connsiteY8" fmla="*/ 320701 h 382112"/>
              <a:gd name="connsiteX9" fmla="*/ 329326 w 604718"/>
              <a:gd name="connsiteY9" fmla="*/ 376337 h 382112"/>
              <a:gd name="connsiteX10" fmla="*/ 264632 w 604718"/>
              <a:gd name="connsiteY10" fmla="*/ 376337 h 382112"/>
              <a:gd name="connsiteX11" fmla="*/ 136819 w 604718"/>
              <a:gd name="connsiteY11" fmla="*/ 320701 h 382112"/>
              <a:gd name="connsiteX12" fmla="*/ 104550 w 604718"/>
              <a:gd name="connsiteY12" fmla="*/ 271509 h 382112"/>
              <a:gd name="connsiteX13" fmla="*/ 300973 w 604718"/>
              <a:gd name="connsiteY13" fmla="*/ 5 h 382112"/>
              <a:gd name="connsiteX14" fmla="*/ 334162 w 604718"/>
              <a:gd name="connsiteY14" fmla="*/ 4701 h 382112"/>
              <a:gd name="connsiteX15" fmla="*/ 581267 w 604718"/>
              <a:gd name="connsiteY15" fmla="*/ 92552 h 382112"/>
              <a:gd name="connsiteX16" fmla="*/ 588822 w 604718"/>
              <a:gd name="connsiteY16" fmla="*/ 114398 h 382112"/>
              <a:gd name="connsiteX17" fmla="*/ 589136 w 604718"/>
              <a:gd name="connsiteY17" fmla="*/ 114398 h 382112"/>
              <a:gd name="connsiteX18" fmla="*/ 589136 w 604718"/>
              <a:gd name="connsiteY18" fmla="*/ 270771 h 382112"/>
              <a:gd name="connsiteX19" fmla="*/ 604718 w 604718"/>
              <a:gd name="connsiteY19" fmla="*/ 321376 h 382112"/>
              <a:gd name="connsiteX20" fmla="*/ 561278 w 604718"/>
              <a:gd name="connsiteY20" fmla="*/ 321376 h 382112"/>
              <a:gd name="connsiteX21" fmla="*/ 576388 w 604718"/>
              <a:gd name="connsiteY21" fmla="*/ 271242 h 382112"/>
              <a:gd name="connsiteX22" fmla="*/ 576388 w 604718"/>
              <a:gd name="connsiteY22" fmla="*/ 120370 h 382112"/>
              <a:gd name="connsiteX23" fmla="*/ 333376 w 604718"/>
              <a:gd name="connsiteY23" fmla="*/ 222680 h 382112"/>
              <a:gd name="connsiteX24" fmla="*/ 268058 w 604718"/>
              <a:gd name="connsiteY24" fmla="*/ 223780 h 382112"/>
              <a:gd name="connsiteX25" fmla="*/ 13556 w 604718"/>
              <a:gd name="connsiteY25" fmla="*/ 125870 h 382112"/>
              <a:gd name="connsiteX26" fmla="*/ 13714 w 604718"/>
              <a:gd name="connsiteY26" fmla="*/ 100882 h 382112"/>
              <a:gd name="connsiteX27" fmla="*/ 267901 w 604718"/>
              <a:gd name="connsiteY27" fmla="*/ 5329 h 382112"/>
              <a:gd name="connsiteX28" fmla="*/ 300973 w 604718"/>
              <a:gd name="connsiteY28" fmla="*/ 5 h 382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604718" h="382112">
                <a:moveTo>
                  <a:pt x="104550" y="208330"/>
                </a:moveTo>
                <a:lnTo>
                  <a:pt x="156180" y="208330"/>
                </a:lnTo>
                <a:lnTo>
                  <a:pt x="261642" y="248878"/>
                </a:lnTo>
                <a:cubicBezTo>
                  <a:pt x="274864" y="253907"/>
                  <a:pt x="289188" y="255007"/>
                  <a:pt x="298947" y="255007"/>
                </a:cubicBezTo>
                <a:cubicBezTo>
                  <a:pt x="314373" y="255007"/>
                  <a:pt x="329012" y="252493"/>
                  <a:pt x="340187" y="247621"/>
                </a:cubicBezTo>
                <a:lnTo>
                  <a:pt x="433687" y="208330"/>
                </a:lnTo>
                <a:lnTo>
                  <a:pt x="490825" y="208330"/>
                </a:lnTo>
                <a:lnTo>
                  <a:pt x="490825" y="271509"/>
                </a:lnTo>
                <a:cubicBezTo>
                  <a:pt x="490825" y="290998"/>
                  <a:pt x="476344" y="313000"/>
                  <a:pt x="458400" y="320701"/>
                </a:cubicBezTo>
                <a:lnTo>
                  <a:pt x="329326" y="376337"/>
                </a:lnTo>
                <a:cubicBezTo>
                  <a:pt x="311382" y="384038"/>
                  <a:pt x="282419" y="384038"/>
                  <a:pt x="264632" y="376337"/>
                </a:cubicBezTo>
                <a:lnTo>
                  <a:pt x="136819" y="320701"/>
                </a:lnTo>
                <a:cubicBezTo>
                  <a:pt x="119032" y="313000"/>
                  <a:pt x="104550" y="290998"/>
                  <a:pt x="104550" y="271509"/>
                </a:cubicBezTo>
                <a:close/>
                <a:moveTo>
                  <a:pt x="300973" y="5"/>
                </a:moveTo>
                <a:cubicBezTo>
                  <a:pt x="312954" y="-93"/>
                  <a:pt x="324955" y="1479"/>
                  <a:pt x="334162" y="4701"/>
                </a:cubicBezTo>
                <a:lnTo>
                  <a:pt x="581267" y="92552"/>
                </a:lnTo>
                <a:cubicBezTo>
                  <a:pt x="596849" y="98053"/>
                  <a:pt x="599210" y="107168"/>
                  <a:pt x="588822" y="114398"/>
                </a:cubicBezTo>
                <a:lnTo>
                  <a:pt x="589136" y="114398"/>
                </a:lnTo>
                <a:lnTo>
                  <a:pt x="589136" y="270771"/>
                </a:lnTo>
                <a:lnTo>
                  <a:pt x="604718" y="321376"/>
                </a:lnTo>
                <a:lnTo>
                  <a:pt x="561278" y="321376"/>
                </a:lnTo>
                <a:lnTo>
                  <a:pt x="576388" y="271242"/>
                </a:lnTo>
                <a:lnTo>
                  <a:pt x="576388" y="120370"/>
                </a:lnTo>
                <a:lnTo>
                  <a:pt x="333376" y="222680"/>
                </a:lnTo>
                <a:cubicBezTo>
                  <a:pt x="315433" y="230224"/>
                  <a:pt x="286158" y="230695"/>
                  <a:pt x="268058" y="223780"/>
                </a:cubicBezTo>
                <a:lnTo>
                  <a:pt x="13556" y="125870"/>
                </a:lnTo>
                <a:cubicBezTo>
                  <a:pt x="-4544" y="118798"/>
                  <a:pt x="-4544" y="107640"/>
                  <a:pt x="13714" y="100882"/>
                </a:cubicBezTo>
                <a:lnTo>
                  <a:pt x="267901" y="5329"/>
                </a:lnTo>
                <a:cubicBezTo>
                  <a:pt x="277030" y="1872"/>
                  <a:pt x="288991" y="104"/>
                  <a:pt x="300973" y="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思源黑体 CN Medium" panose="020B0600000000000000" pitchFamily="34" charset="-122"/>
              <a:ea typeface="思源黑体 CN Normal" panose="020B0400000000000000" pitchFamily="34" charset="-122"/>
              <a:sym typeface="思源黑体 CN Medium" panose="020B0600000000000000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1784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2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  <p:bldP spid="2" grpId="0" animBg="1"/>
      <p:bldP spid="4" grpId="0" animBg="1"/>
      <p:bldP spid="7" grpId="0" animBg="1"/>
      <p:bldP spid="6" grpId="0" animBg="1"/>
      <p:bldP spid="13" grpId="0"/>
      <p:bldP spid="14" grpId="0"/>
      <p:bldP spid="16" grpId="0"/>
      <p:bldP spid="18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OS" val="Unix 2.6 unknown"/>
  <p:tag name="AS_RELEASE_DATE" val="2021.11.30"/>
  <p:tag name="AS_TITLE" val="Aspose.Slides for Java"/>
  <p:tag name="AS_VERSION" val="21.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6637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6637;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058A7"/>
      </a:accent1>
      <a:accent2>
        <a:srgbClr val="1A84CD"/>
      </a:accent2>
      <a:accent3>
        <a:srgbClr val="4A73CA"/>
      </a:accent3>
      <a:accent4>
        <a:srgbClr val="FF9B36"/>
      </a:accent4>
      <a:accent5>
        <a:srgbClr val="9B9A9A"/>
      </a:accent5>
      <a:accent6>
        <a:srgbClr val="BABABA"/>
      </a:accent6>
      <a:hlink>
        <a:srgbClr val="046EA4"/>
      </a:hlink>
      <a:folHlink>
        <a:srgbClr val="BFBFBF"/>
      </a:folHlink>
    </a:clrScheme>
    <a:fontScheme name="Office">
      <a:majorFont>
        <a:latin typeface="等线 Light" panose="020F0302020204030204"/>
        <a:ea typeface="等线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等线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0058A7"/>
    </a:accent1>
    <a:accent2>
      <a:srgbClr val="1A84CD"/>
    </a:accent2>
    <a:accent3>
      <a:srgbClr val="4A73CA"/>
    </a:accent3>
    <a:accent4>
      <a:srgbClr val="FF9B36"/>
    </a:accent4>
    <a:accent5>
      <a:srgbClr val="9B9A9A"/>
    </a:accent5>
    <a:accent6>
      <a:srgbClr val="BABABA"/>
    </a:accent6>
    <a:hlink>
      <a:srgbClr val="046EA4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0058A7"/>
    </a:accent1>
    <a:accent2>
      <a:srgbClr val="1A84CD"/>
    </a:accent2>
    <a:accent3>
      <a:srgbClr val="4A73CA"/>
    </a:accent3>
    <a:accent4>
      <a:srgbClr val="FF9B36"/>
    </a:accent4>
    <a:accent5>
      <a:srgbClr val="9B9A9A"/>
    </a:accent5>
    <a:accent6>
      <a:srgbClr val="BABABA"/>
    </a:accent6>
    <a:hlink>
      <a:srgbClr val="046EA4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355</Words>
  <Application>Microsoft Office PowerPoint</Application>
  <PresentationFormat>Grand écran</PresentationFormat>
  <Paragraphs>68</Paragraphs>
  <Slides>12</Slides>
  <Notes>0</Notes>
  <HiddenSlides>0</HiddenSlides>
  <MMClips>1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8" baseType="lpstr">
      <vt:lpstr>等线</vt:lpstr>
      <vt:lpstr>Arial</vt:lpstr>
      <vt:lpstr>Lao UI</vt:lpstr>
      <vt:lpstr>Lato</vt:lpstr>
      <vt:lpstr>思源黑体 CN Medium</vt:lpstr>
      <vt:lpstr>Office 主题​​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angelrui0511@outlook.com</dc:creator>
  <cp:lastModifiedBy>Diallo, Mohamed Aliou</cp:lastModifiedBy>
  <cp:revision>18</cp:revision>
  <dcterms:created xsi:type="dcterms:W3CDTF">2022-05-05T07:21:42Z</dcterms:created>
  <dcterms:modified xsi:type="dcterms:W3CDTF">2025-10-10T04:17:13Z</dcterms:modified>
</cp:coreProperties>
</file>